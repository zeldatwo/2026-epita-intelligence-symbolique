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4355e722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54355e722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[OMID] (0:00 – 0:30)</a:t>
            </a:r>
            <a:br>
              <a:rPr lang="fr"/>
            </a:br>
            <a:r>
              <a:rPr lang="fr"/>
              <a:t>Bonjour à tous. Nous sommes Omid, Arno et Romain, et nous avons travaillé sur le sujet J4 : l'intégration entre LLM et solveurs symboliques, ce qu'on appelle le paradigme « LLM-as-a-reasoner ».</a:t>
            </a:r>
            <a:br>
              <a:rPr lang="fr"/>
            </a:br>
            <a:r>
              <a:rPr lang="fr"/>
              <a:t>L'idée tient en une phrase : le LLM ne raisonne pas, il traduit. C'est le solveur qui raisonne.</a:t>
            </a:r>
            <a:br>
              <a:rPr lang="fr"/>
            </a:br>
            <a:r>
              <a:rPr lang="fr"/>
              <a:t>Je vais présenter le problème et l'architecture, Arno détaillera le cœur symbolique (validation, correction, résolution) ET fera la démonstration, puis Romain présentera l'évaluation et les résultats.</a:t>
            </a:r>
            <a:endParaRPr/>
          </a:p>
        </p:txBody>
      </p:sp>
      <p:sp>
        <p:nvSpPr>
          <p:cNvPr id="55" name="Google Shape;55;g3f54355e722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54355e722_2_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f54355e722_2_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[OMID] (0:30 – 1:30)</a:t>
            </a:r>
            <a:br>
              <a:rPr lang="fr"/>
            </a:br>
            <a:r>
              <a:rPr lang="fr"/>
              <a:t>Le point de départ, c'est une limite bien documentée : un LLM ne raisonne pas, il prédit le token suivant. Sur un problème logique, ça donne trois pathologies : il hallucine des contraintes qui ne sont pas dans l'énoncé ; il a un biais d'optimisme — face à un problème impossible, il préfère inventer une solution plutôt que dire « impossible » ; et il n'est pas reproductible.</a:t>
            </a:r>
            <a:br>
              <a:rPr lang="fr"/>
            </a:br>
            <a:r>
              <a:rPr lang="fr"/>
              <a:t>En face, un solveur SMT comme Z3 est correct, complet, déterministe, et il sait prouver qu'un problème n'a AUCUNE solution. Son seul défaut : il ne comprend pas le langage naturel.</a:t>
            </a:r>
            <a:br>
              <a:rPr lang="fr"/>
            </a:br>
            <a:r>
              <a:rPr lang="fr"/>
              <a:t>Notre projet, c'est de brancher l'un sur l'autre.</a:t>
            </a:r>
            <a:endParaRPr/>
          </a:p>
        </p:txBody>
      </p:sp>
      <p:sp>
        <p:nvSpPr>
          <p:cNvPr id="67" name="Google Shape;67;g3f54355e722_2_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54355e722_2_3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f54355e722_2_3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[OMID] (1:30 – 2:15)</a:t>
            </a:r>
            <a:br>
              <a:rPr lang="fr"/>
            </a:br>
            <a:r>
              <a:rPr lang="fr"/>
              <a:t>Notre positionnement est celui-ci : on retire au LLM le droit de conclure. Son unique tâche, c'est la traduction — produire une formalisation fidèle de l'énoncé, dans un format JSON strict.</a:t>
            </a:r>
            <a:br>
              <a:rPr lang="fr"/>
            </a:br>
            <a:r>
              <a:rPr lang="fr"/>
              <a:t>Ensuite le solveur prend le relais et c'est lui, et lui seul, qui décide : SAT, UNSAT, optimum, ou plan.</a:t>
            </a:r>
            <a:br>
              <a:rPr lang="fr"/>
            </a:br>
            <a:r>
              <a:rPr lang="fr"/>
              <a:t>Toute la charge de la vérité est déplacée sur le noyau symbolique. Le LLM devient une interface de saisie, pas un oracle.</a:t>
            </a:r>
            <a:endParaRPr/>
          </a:p>
        </p:txBody>
      </p:sp>
      <p:sp>
        <p:nvSpPr>
          <p:cNvPr id="89" name="Google Shape;89;g3f54355e722_2_3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54355e722_2_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f54355e722_2_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[OMID] (2:15 – 3:15)</a:t>
            </a:r>
            <a:br>
              <a:rPr lang="fr"/>
            </a:br>
            <a:r>
              <a:rPr lang="fr"/>
              <a:t>Concrètement, le pipeline compte six modules.</a:t>
            </a:r>
            <a:br>
              <a:rPr lang="fr"/>
            </a:br>
            <a:r>
              <a:rPr lang="fr"/>
              <a:t>Le translator envoie l'énoncé à un LLM local — Ollama, modèle qwen2.5-coder — avec un prompt système qui impose le format.</a:t>
            </a:r>
            <a:br>
              <a:rPr lang="fr"/>
            </a:br>
            <a:r>
              <a:rPr lang="fr"/>
              <a:t>Le validator vérifie le JSON produit, en trois passes qu'Arno va détailler.</a:t>
            </a:r>
            <a:br>
              <a:rPr lang="fr"/>
            </a:br>
            <a:r>
              <a:rPr lang="fr"/>
              <a:t>Le solver_backend résout, et l'interpreter reformule le résultat en français.</a:t>
            </a:r>
            <a:br>
              <a:rPr lang="fr"/>
            </a:br>
            <a:r>
              <a:rPr lang="fr"/>
              <a:t>Les deux modules transverses sont les plus intéressants : la correction_loop, qui renvoie l'erreur au LLM pour qu'il se corrige, et l'error_taxonomy, qui classe et agrège tous les échecs rencontrés. C'est précisément le livrable d'analyse demandé par le sujet : non pas juste « ça marche », mais « voici POURQUOI et COMMENT ça échoue ».</a:t>
            </a:r>
            <a:br>
              <a:rPr lang="fr"/>
            </a:br>
            <a:r>
              <a:rPr lang="fr"/>
              <a:t>Je passe la main à Arno pour le cœur symbolique.</a:t>
            </a:r>
            <a:endParaRPr/>
          </a:p>
        </p:txBody>
      </p:sp>
      <p:sp>
        <p:nvSpPr>
          <p:cNvPr id="111" name="Google Shape;111;g3f54355e722_2_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54355e722_2_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f54355e722_2_8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[ARNO] (3:15 – 4:05)</a:t>
            </a:r>
            <a:br>
              <a:rPr lang="fr"/>
            </a:br>
            <a:r>
              <a:rPr lang="fr"/>
              <a:t>Le cœur du système, c'est cette représentation intermédiaire. Une seule classe Pydantic, le SymbolicModel, capable d'exprimer quatre formalismes.</a:t>
            </a:r>
            <a:br>
              <a:rPr lang="fr"/>
            </a:br>
            <a:r>
              <a:rPr lang="fr"/>
              <a:t>Le prompt système demande au LLM de CHOISIR le bon outil : du booléen pur pour les énigmes de menteurs, du SMT dès qu'il y a de l'arithmétique ou une optimisation, du CSP pour les énigmes à attributs multiples, et du PDDL dès qu'il y a des actions séquentielles et un but à atteindre.</a:t>
            </a:r>
            <a:br>
              <a:rPr lang="fr"/>
            </a:br>
            <a:r>
              <a:rPr lang="fr"/>
              <a:t>Premier verrou important : Pydantic rejette immédiatement tout JSON non conforme. Un type inconnu, un domaine [10, 3] avec min &gt; max, un nom de variable invalide — c'est refusé avant même de voir Z3.</a:t>
            </a:r>
            <a:endParaRPr/>
          </a:p>
        </p:txBody>
      </p:sp>
      <p:sp>
        <p:nvSpPr>
          <p:cNvPr id="145" name="Google Shape;145;g3f54355e722_2_8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54355e722_2_10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f54355e722_2_10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[ARNO] (4:05 – 5:00)</a:t>
            </a:r>
            <a:br>
              <a:rPr lang="fr"/>
            </a:br>
            <a:r>
              <a:rPr lang="fr"/>
              <a:t>Avant de lancer Z3, on valide en trois passes.</a:t>
            </a:r>
            <a:br>
              <a:rPr lang="fr"/>
            </a:br>
            <a:r>
              <a:rPr lang="fr"/>
              <a:t>Passe 1 : on parse chaque contrainte en AST Python et on collecte les identifiants. Si le LLM utilise une variable qu'il n'a pas déclarée — c'est l'erreur la plus fréquente — on la détecte ici, et on sait exactement laquelle.</a:t>
            </a:r>
            <a:br>
              <a:rPr lang="fr"/>
            </a:br>
            <a:r>
              <a:rPr lang="fr"/>
              <a:t>Passe 2 : on compile en expression Z3, dans un espace de noms verrouillé. Pas de builtins, uniquement les fonctions Z3 autorisées. C'est aussi une mesure de sécurité, puisqu'on fait un eval sur du texte généré par un LLM.</a:t>
            </a:r>
            <a:br>
              <a:rPr lang="fr"/>
            </a:br>
            <a:r>
              <a:rPr lang="fr"/>
              <a:t>Passe 3 : on vérifie que l'expression est bien booléenne. « x + 3 » n'est pas une contrainte, c'est un terme.</a:t>
            </a:r>
            <a:br>
              <a:rPr lang="fr"/>
            </a:br>
            <a:r>
              <a:rPr lang="fr"/>
              <a:t>Détail d'ingénierie dont on est assez contents : le validateur et le solveur partagent exactement les mêmes helpers. Il ne peut donc pas y avoir de divergence entre ce qu'on valide et ce qu'on résout.</a:t>
            </a:r>
            <a:endParaRPr/>
          </a:p>
        </p:txBody>
      </p:sp>
      <p:sp>
        <p:nvSpPr>
          <p:cNvPr id="165" name="Google Shape;165;g3f54355e722_2_10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54355e722_2_1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f54355e722_2_12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[ARNO] (5:00 – 5:45)</a:t>
            </a:r>
            <a:br>
              <a:rPr lang="fr"/>
            </a:br>
            <a:r>
              <a:rPr lang="fr"/>
              <a:t>Quand la validation échoue, on ne jette pas la réponse : on renvoie au LLM le message d'erreur exact, et on relance. Jusqu'à cinq tentatives.</a:t>
            </a:r>
            <a:br>
              <a:rPr lang="fr"/>
            </a:br>
            <a:r>
              <a:rPr lang="fr"/>
              <a:t>L'intérêt, c'est que le feedback est précis. On ne dit pas « c'est faux, recommence » — on dit « la variable z que tu utilises dans cette contrainte n'est pas déclarée ». Le LLM n'a pas à deviner ce qui a cassé.</a:t>
            </a:r>
            <a:br>
              <a:rPr lang="fr"/>
            </a:br>
            <a:r>
              <a:rPr lang="fr"/>
              <a:t>Et surtout : chaque échec est étiqueté selon sept catégories, et enregistré. Ça nous donne, en fin de benchmark, une distribution — quel type d'erreur le modèle commet, et laquelle la boucle arrive à rattraper. C'est la taxonomie que le sujet demande.</a:t>
            </a:r>
            <a:endParaRPr/>
          </a:p>
        </p:txBody>
      </p:sp>
      <p:sp>
        <p:nvSpPr>
          <p:cNvPr id="186" name="Google Shape;186;g3f54355e722_2_12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54355e722_2_1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f54355e722_2_1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[ARNO] (5:45 – 6:35)</a:t>
            </a:r>
            <a:br>
              <a:rPr lang="fr"/>
            </a:br>
            <a:r>
              <a:rPr lang="fr"/>
              <a:t>Deux backends, une seule fonction solve().</a:t>
            </a:r>
            <a:br>
              <a:rPr lang="fr"/>
            </a:br>
            <a:r>
              <a:rPr lang="fr"/>
              <a:t>Côté Z3 : un Solver classique pour la satisfiabilité, et un Optimize dès qu'un objectif est déclaré. Les bornes de domaine sont ajoutées automatiquement.</a:t>
            </a:r>
            <a:br>
              <a:rPr lang="fr"/>
            </a:br>
            <a:r>
              <a:rPr lang="fr"/>
              <a:t>Côté planification, on a écrit notre propre planificateur PDDL : grounding des actions sur les objets, puis recherche avant dans l'espace d'états. Pas de dépendance à Fast Downward.</a:t>
            </a:r>
            <a:br>
              <a:rPr lang="fr"/>
            </a:br>
            <a:r>
              <a:rPr lang="fr"/>
              <a:t>Un point qu'on tient à souligner : UNSAT n'est PAS un échec du système. C'est un résultat. Face à quatre invités et trois chambres, la bonne réponse est « impossible », et la prouver a de la valeur. On a dû l'écrire noir sur blanc dans le prompt système — « biais d'optimisme interdit » — parce que la tendance naturelle du LLM est de trafiquer les contraintes pour trouver une solution à tout prix. Le modèle doit poser expected_status: UNSAT, et le solveur confirme.</a:t>
            </a:r>
            <a:br>
              <a:rPr lang="fr"/>
            </a:br>
            <a:r>
              <a:rPr lang="fr"/>
              <a:t>Je vais vous le montrer en direct.</a:t>
            </a:r>
            <a:endParaRPr/>
          </a:p>
        </p:txBody>
      </p:sp>
      <p:sp>
        <p:nvSpPr>
          <p:cNvPr id="215" name="Google Shape;215;g3f54355e722_2_1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54355e722_2_1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f54355e722_2_17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[ARNO] (6:35 – 8:05) — DÉMO ~90 s</a:t>
            </a:r>
            <a:br>
              <a:rPr lang="fr"/>
            </a:br>
            <a:r>
              <a:rPr lang="fr"/>
              <a:t>Scénario, dans l'ordre, sans improviser :</a:t>
            </a:r>
            <a:br>
              <a:rPr lang="fr"/>
            </a:br>
            <a:r>
              <a:rPr lang="fr"/>
              <a:t>1) Lancer l'app Streamlit (déjà ouverte, Ollama déjà chaud — ne PAS démarrer le modèle en direct).</a:t>
            </a:r>
            <a:br>
              <a:rPr lang="fr"/>
            </a:br>
            <a:r>
              <a:rPr lang="fr"/>
              <a:t>2) Coller l'énigme des chevaliers et valets. Montrer d'abord le JSON intermédiaire produit : formalism = sat, deux variables Bool, la contrainte Implies. Insister : « voilà ce que le LLM a produit — on peut le lire, le relire, le contester. Ce n'est pas une boîte noire. »</a:t>
            </a:r>
            <a:br>
              <a:rPr lang="fr"/>
            </a:br>
            <a:r>
              <a:rPr lang="fr"/>
              <a:t>3) Puis le problème impossible : 4 invités, 3 chambres. Le solveur renvoie UNSAT, et la réponse en français dit « impossible » au lieu d'inventer.</a:t>
            </a:r>
            <a:br>
              <a:rPr lang="fr"/>
            </a:br>
            <a:r>
              <a:rPr lang="fr"/>
              <a:t>Message à faire passer pendant que ça tourne : ce qui est vérifiable ici, ce n'est pas la réponse du LLM, c'est la formalisation. Le reste est prouvé.</a:t>
            </a:r>
            <a:br>
              <a:rPr lang="fr"/>
            </a:br>
            <a:r>
              <a:rPr lang="fr"/>
              <a:t>SI LA DÉMO PLANTE : ne pas insister, capture d'écran de secours et on enchaîne. Puis je passe la main à Romain pour l'évaluation.</a:t>
            </a:r>
            <a:endParaRPr/>
          </a:p>
        </p:txBody>
      </p:sp>
      <p:sp>
        <p:nvSpPr>
          <p:cNvPr id="232" name="Google Shape;232;g3f54355e722_2_17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54355e722_2_1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f54355e722_2_18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[ROMAIN] (8:05 – 8:45)</a:t>
            </a:r>
            <a:br>
              <a:rPr lang="fr"/>
            </a:br>
            <a:r>
              <a:rPr lang="fr"/>
              <a:t>Pour l'évaluation, deux bancs d'essai complémentaires.</a:t>
            </a:r>
            <a:br>
              <a:rPr lang="fr"/>
            </a:br>
            <a:r>
              <a:rPr lang="fr"/>
              <a:t>Le premier, benchmark_runner, couvre les quatre formalismes : vingt problèmes, cinq par formalisme (SAT, SMT, CSP, PDDL), avec des instances satisfiables ET impossibles mélangées. C'est lui qui alimente la taxonomie d'erreurs.</a:t>
            </a:r>
            <a:br>
              <a:rPr lang="fr"/>
            </a:br>
            <a:r>
              <a:rPr lang="fr"/>
              <a:t>Le second, le benchmark LogicGrid, mesure la fidélité de traduction : les grilles logiques ont une solution unique. On énumère les solutions du modèle produit avec une clause de blocage Z3 ; s'il y en a plusieurs, c'est qu'une contrainte a été omise, et ce test marche quel que soit le nommage choisi par le LLM.</a:t>
            </a:r>
            <a:endParaRPr/>
          </a:p>
        </p:txBody>
      </p:sp>
      <p:sp>
        <p:nvSpPr>
          <p:cNvPr id="247" name="Google Shape;247;g3f54355e722_2_18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54355e722_2_2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f54355e722_2_2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[ROMAIN] (8:45 – 9:20)</a:t>
            </a:r>
            <a:br>
              <a:rPr lang="fr"/>
            </a:br>
            <a:r>
              <a:rPr lang="fr"/>
              <a:t>⚠️ REMPLACER LES « __ » PAR VOS VRAIS CHIFFRES avant la soutenance :</a:t>
            </a:r>
            <a:br>
              <a:rPr lang="fr"/>
            </a:br>
            <a:r>
              <a:rPr lang="fr"/>
              <a:t>   python benchmarks/benchmark_runner.py --model qwen2.5-coder --output results.json</a:t>
            </a:r>
            <a:br>
              <a:rPr lang="fr"/>
            </a:br>
            <a:r>
              <a:rPr lang="fr"/>
              <a:t>   -&gt; success_rate_direct, success_rate_with_correction, average_attempts ; et logicgrid_benchmark.py pour le taux de solutions uniques.</a:t>
            </a:r>
            <a:br>
              <a:rPr lang="fr"/>
            </a:br>
            <a:br>
              <a:rPr lang="fr"/>
            </a:br>
            <a:r>
              <a:rPr lang="fr"/>
              <a:t>Ce qu'on retient, au-delà des chiffres :</a:t>
            </a:r>
            <a:br>
              <a:rPr lang="fr"/>
            </a:br>
            <a:r>
              <a:rPr lang="fr"/>
              <a:t>Premièrement, les erreurs que commet le LLM sont massivement structurelles — il oublie de déclarer une variable, il produit du JSON cassé. Ce ne sont PAS des erreurs de raisonnement. C'est plutôt rassurant : ces erreurs-là, un validateur les attrape.</a:t>
            </a:r>
            <a:br>
              <a:rPr lang="fr"/>
            </a:br>
            <a:r>
              <a:rPr lang="fr"/>
              <a:t>Deuxièmement, c'est précisément pour ça que la boucle de correction est rentable : une erreur mécanique se corrige avec un message précis.</a:t>
            </a:r>
            <a:br>
              <a:rPr lang="fr"/>
            </a:br>
            <a:r>
              <a:rPr lang="fr"/>
              <a:t>Troisièmement, la vraie limite : l'erreur qui résiste, c'est le semantic_mismatch. Le modèle est syntaxiquement parfait, Z3 l'avale, mais il ne traduit pas l'énoncé. Aucun validateur ne nous sauve là-dessus. C'est justement ce que le banc LogicGrid attaque : par le test d'unicité, il détecte au moins la sous-spécification (une contrainte manquante rend le modèle non-unique).</a:t>
            </a:r>
            <a:endParaRPr/>
          </a:p>
        </p:txBody>
      </p:sp>
      <p:sp>
        <p:nvSpPr>
          <p:cNvPr id="284" name="Google Shape;284;g3f54355e722_2_2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54355e722_2_2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3f54355e722_2_2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[ROMAIN] (9:20 – 9:45)</a:t>
            </a:r>
            <a:br>
              <a:rPr lang="fr"/>
            </a:br>
            <a:r>
              <a:rPr lang="fr"/>
              <a:t>Trois limites qu'on assume.</a:t>
            </a:r>
            <a:br>
              <a:rPr lang="fr"/>
            </a:br>
            <a:r>
              <a:rPr lang="fr"/>
              <a:t>La première est fondamentale : on garantit que le solveur résout correctement LE MODÈLE. On ne garantit pas que le modèle soit une traduction fidèle de L'ÉNONCÉ. Ce trou de garantie est irréductible tant qu'on part d'un texte en langage naturel plutôt que d'une spécification formelle.</a:t>
            </a:r>
            <a:br>
              <a:rPr lang="fr"/>
            </a:br>
            <a:r>
              <a:rPr lang="fr"/>
              <a:t>La deuxième : notre prompt système est devenu long. Chaque règle qu'il contient vient d'un échec qu'on a observé. Ça marche, mais c'est du prompt engineering qui compense l'absence de génération sous grammaire contrainte.</a:t>
            </a:r>
            <a:br>
              <a:rPr lang="fr"/>
            </a:br>
            <a:r>
              <a:rPr lang="fr"/>
              <a:t>La troisième : notre planificateur PDDL est naïf, le grounding est exponentiel. Nos instances restent petites.</a:t>
            </a:r>
            <a:endParaRPr/>
          </a:p>
        </p:txBody>
      </p:sp>
      <p:sp>
        <p:nvSpPr>
          <p:cNvPr id="311" name="Google Shape;311;g3f54355e722_2_2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54355e722_2_2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f54355e722_2_26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fr"/>
              <a:t>[ROMAIN] (9:45 – 10:00)</a:t>
            </a:r>
            <a:br>
              <a:rPr lang="fr"/>
            </a:br>
            <a:r>
              <a:rPr lang="fr"/>
              <a:t>Pour conclure : nous n'avons pas rendu le LLM meilleur en logique. Nous avons construit une architecture où l'on cesse de lui faire confiance — où son erreur devient détectable, nommable, et corrigeable, et où la conclusion revient au solveur.</a:t>
            </a:r>
            <a:br>
              <a:rPr lang="fr"/>
            </a:br>
            <a:r>
              <a:rPr lang="fr"/>
              <a:t>Trois pistes pour la suite : la génération sous grammaire contrainte, qui garantirait le JSON par construction ; un backend PySAT avec certificats UNSAT vérifiables ; et une piste d'auto-évaluation croisée pour attaquer le seul angle mort qui nous reste, le semantic_mismatch.</a:t>
            </a:r>
            <a:br>
              <a:rPr lang="fr"/>
            </a:br>
            <a:r>
              <a:rPr lang="fr"/>
              <a:t>Merci — nous sommes à votre disposition pour vos questions.</a:t>
            </a:r>
            <a:endParaRPr/>
          </a:p>
        </p:txBody>
      </p:sp>
      <p:sp>
        <p:nvSpPr>
          <p:cNvPr id="328" name="Google Shape;328;g3f54355e722_2_26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56" name="Shape 56"/>
        <p:cNvGrpSpPr/>
        <p:nvPr/>
      </p:nvGrpSpPr>
      <p:grpSpPr>
        <a:xfrm>
          <a:off x="0" y="0"/>
          <a:ext cx="0" cy="0"/>
          <a:chOff x="0" y="0"/>
          <a:chExt cx="0" cy="0"/>
        </a:xfrm>
      </p:grpSpPr>
      <p:sp>
        <p:nvSpPr>
          <p:cNvPr id="57" name="Google Shape;57;p15"/>
          <p:cNvSpPr/>
          <p:nvPr/>
        </p:nvSpPr>
        <p:spPr>
          <a:xfrm>
            <a:off x="0" y="0"/>
            <a:ext cx="128016" cy="5143500"/>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5"/>
          <p:cNvSpPr/>
          <p:nvPr/>
        </p:nvSpPr>
        <p:spPr>
          <a:xfrm>
            <a:off x="822960" y="1143000"/>
            <a:ext cx="7680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200"/>
              <a:buFont typeface="Calibri"/>
              <a:buNone/>
            </a:pPr>
            <a:r>
              <a:rPr b="1" i="0" lang="fr" sz="1200" u="none" cap="none" strike="noStrike">
                <a:solidFill>
                  <a:srgbClr val="B5533C"/>
                </a:solidFill>
                <a:latin typeface="Calibri"/>
                <a:ea typeface="Calibri"/>
                <a:cs typeface="Calibri"/>
                <a:sym typeface="Calibri"/>
              </a:rPr>
              <a:t>Intelligence Symbolique — EPITA 2026</a:t>
            </a:r>
            <a:endParaRPr b="0" i="0" sz="1200" u="none" cap="none" strike="noStrike">
              <a:solidFill>
                <a:schemeClr val="dk1"/>
              </a:solidFill>
              <a:latin typeface="Calibri"/>
              <a:ea typeface="Calibri"/>
              <a:cs typeface="Calibri"/>
              <a:sym typeface="Calibri"/>
            </a:endParaRPr>
          </a:p>
        </p:txBody>
      </p:sp>
      <p:sp>
        <p:nvSpPr>
          <p:cNvPr id="59" name="Google Shape;59;p15"/>
          <p:cNvSpPr/>
          <p:nvPr/>
        </p:nvSpPr>
        <p:spPr>
          <a:xfrm>
            <a:off x="822960" y="1600200"/>
            <a:ext cx="76809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Cambria"/>
              <a:buNone/>
            </a:pPr>
            <a:r>
              <a:rPr b="1" i="0" lang="fr" sz="4400" u="none" cap="none" strike="noStrike">
                <a:solidFill>
                  <a:srgbClr val="FFFFFF"/>
                </a:solidFill>
                <a:latin typeface="Cambria"/>
                <a:ea typeface="Cambria"/>
                <a:cs typeface="Cambria"/>
                <a:sym typeface="Cambria"/>
              </a:rPr>
              <a:t>LLM-as-a-Reasoner</a:t>
            </a:r>
            <a:endParaRPr b="0" i="0" sz="4400" u="none" cap="none" strike="noStrike">
              <a:solidFill>
                <a:schemeClr val="dk1"/>
              </a:solidFill>
              <a:latin typeface="Calibri"/>
              <a:ea typeface="Calibri"/>
              <a:cs typeface="Calibri"/>
              <a:sym typeface="Calibri"/>
            </a:endParaRPr>
          </a:p>
        </p:txBody>
      </p:sp>
      <p:sp>
        <p:nvSpPr>
          <p:cNvPr id="60" name="Google Shape;60;p15"/>
          <p:cNvSpPr/>
          <p:nvPr/>
        </p:nvSpPr>
        <p:spPr>
          <a:xfrm>
            <a:off x="822960" y="2423160"/>
            <a:ext cx="7315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BC"/>
              </a:buClr>
              <a:buSzPts val="1500"/>
              <a:buFont typeface="Calibri"/>
              <a:buNone/>
            </a:pPr>
            <a:r>
              <a:rPr b="0" i="0" lang="fr" sz="1500" u="none" cap="none" strike="noStrike">
                <a:solidFill>
                  <a:srgbClr val="9FB0BC"/>
                </a:solidFill>
                <a:latin typeface="Calibri"/>
                <a:ea typeface="Calibri"/>
                <a:cs typeface="Calibri"/>
                <a:sym typeface="Calibri"/>
              </a:rPr>
              <a:t>Du langage naturel à la preuve : traduction par LLM, vérification par solveur</a:t>
            </a:r>
            <a:endParaRPr b="0" i="0" sz="1500" u="none" cap="none" strike="noStrike">
              <a:solidFill>
                <a:schemeClr val="dk1"/>
              </a:solidFill>
              <a:latin typeface="Calibri"/>
              <a:ea typeface="Calibri"/>
              <a:cs typeface="Calibri"/>
              <a:sym typeface="Calibri"/>
            </a:endParaRPr>
          </a:p>
        </p:txBody>
      </p:sp>
      <p:cxnSp>
        <p:nvCxnSpPr>
          <p:cNvPr id="61" name="Google Shape;61;p15"/>
          <p:cNvCxnSpPr/>
          <p:nvPr/>
        </p:nvCxnSpPr>
        <p:spPr>
          <a:xfrm>
            <a:off x="822960" y="3063240"/>
            <a:ext cx="2011680" cy="0"/>
          </a:xfrm>
          <a:prstGeom prst="straightConnector1">
            <a:avLst/>
          </a:prstGeom>
          <a:noFill/>
          <a:ln cap="flat" cmpd="sng" w="12700">
            <a:solidFill>
              <a:srgbClr val="6B7A87"/>
            </a:solidFill>
            <a:prstDash val="solid"/>
            <a:round/>
            <a:headEnd len="sm" w="sm" type="none"/>
            <a:tailEnd len="sm" w="sm" type="none"/>
          </a:ln>
        </p:spPr>
      </p:cxnSp>
      <p:sp>
        <p:nvSpPr>
          <p:cNvPr id="62" name="Google Shape;62;p15"/>
          <p:cNvSpPr/>
          <p:nvPr/>
        </p:nvSpPr>
        <p:spPr>
          <a:xfrm>
            <a:off x="822960" y="3291840"/>
            <a:ext cx="7680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0" i="0" lang="fr" sz="1300" u="none" cap="none" strike="noStrike">
                <a:solidFill>
                  <a:srgbClr val="FFFFFF"/>
                </a:solidFill>
                <a:latin typeface="Calibri"/>
                <a:ea typeface="Calibri"/>
                <a:cs typeface="Calibri"/>
                <a:sym typeface="Calibri"/>
              </a:rPr>
              <a:t>Omid Sheibanifar   ·   Arno Minni   ·   Romain Chanonat</a:t>
            </a:r>
            <a:endParaRPr b="0" i="0" sz="1300" u="none" cap="none" strike="noStrike">
              <a:solidFill>
                <a:schemeClr val="dk1"/>
              </a:solidFill>
              <a:latin typeface="Calibri"/>
              <a:ea typeface="Calibri"/>
              <a:cs typeface="Calibri"/>
              <a:sym typeface="Calibri"/>
            </a:endParaRPr>
          </a:p>
        </p:txBody>
      </p:sp>
      <p:sp>
        <p:nvSpPr>
          <p:cNvPr id="63" name="Google Shape;63;p15"/>
          <p:cNvSpPr/>
          <p:nvPr/>
        </p:nvSpPr>
        <p:spPr>
          <a:xfrm>
            <a:off x="822959" y="3657600"/>
            <a:ext cx="570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BC"/>
              </a:buClr>
              <a:buSzPts val="1100"/>
              <a:buFont typeface="Calibri"/>
              <a:buNone/>
            </a:pPr>
            <a:r>
              <a:rPr b="0" i="0" lang="fr" sz="1100" u="none" cap="none" strike="noStrike">
                <a:solidFill>
                  <a:srgbClr val="9FB0BC"/>
                </a:solidFill>
                <a:latin typeface="Calibri"/>
                <a:ea typeface="Calibri"/>
                <a:cs typeface="Calibri"/>
                <a:sym typeface="Calibri"/>
              </a:rPr>
              <a:t>Sujet J4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68" name="Shape 68"/>
        <p:cNvGrpSpPr/>
        <p:nvPr/>
      </p:nvGrpSpPr>
      <p:grpSpPr>
        <a:xfrm>
          <a:off x="0" y="0"/>
          <a:ext cx="0" cy="0"/>
          <a:chOff x="0" y="0"/>
          <a:chExt cx="0" cy="0"/>
        </a:xfrm>
      </p:grpSpPr>
      <p:sp>
        <p:nvSpPr>
          <p:cNvPr id="69" name="Google Shape;69;p16"/>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LE CONSTAT</a:t>
            </a:r>
            <a:endParaRPr b="0" i="0" sz="1100" u="none" cap="none" strike="noStrike">
              <a:solidFill>
                <a:schemeClr val="dk1"/>
              </a:solidFill>
              <a:latin typeface="Calibri"/>
              <a:ea typeface="Calibri"/>
              <a:cs typeface="Calibri"/>
              <a:sym typeface="Calibri"/>
            </a:endParaRPr>
          </a:p>
        </p:txBody>
      </p:sp>
      <p:sp>
        <p:nvSpPr>
          <p:cNvPr id="70" name="Google Shape;70;p16"/>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Un LLM ne raisonne pas : il prédit</a:t>
            </a:r>
            <a:endParaRPr b="0" i="0" sz="3000" u="none" cap="none" strike="noStrike">
              <a:solidFill>
                <a:schemeClr val="dk1"/>
              </a:solidFill>
              <a:latin typeface="Calibri"/>
              <a:ea typeface="Calibri"/>
              <a:cs typeface="Calibri"/>
              <a:sym typeface="Calibri"/>
            </a:endParaRPr>
          </a:p>
        </p:txBody>
      </p:sp>
      <p:sp>
        <p:nvSpPr>
          <p:cNvPr id="71" name="Google Shape;71;p16"/>
          <p:cNvSpPr/>
          <p:nvPr/>
        </p:nvSpPr>
        <p:spPr>
          <a:xfrm>
            <a:off x="548640" y="1170432"/>
            <a:ext cx="4754880" cy="82296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22303C"/>
              </a:buClr>
              <a:buSzPts val="1400"/>
              <a:buFont typeface="Calibri"/>
              <a:buNone/>
            </a:pPr>
            <a:r>
              <a:rPr b="0" i="0" lang="fr" sz="1400" u="none" cap="none" strike="noStrike">
                <a:solidFill>
                  <a:srgbClr val="22303C"/>
                </a:solidFill>
                <a:latin typeface="Calibri"/>
                <a:ea typeface="Calibri"/>
                <a:cs typeface="Calibri"/>
                <a:sym typeface="Calibri"/>
              </a:rPr>
              <a:t>Sur un problème de logique ou d'arithmétique combinatoire, un LLM produit une réponse plausible, fluide… et parfois fausse. Il n'a aucune garantie de correction.</a:t>
            </a:r>
            <a:endParaRPr b="0" i="0" sz="1400" u="none" cap="none" strike="noStrike">
              <a:solidFill>
                <a:schemeClr val="dk1"/>
              </a:solidFill>
              <a:latin typeface="Calibri"/>
              <a:ea typeface="Calibri"/>
              <a:cs typeface="Calibri"/>
              <a:sym typeface="Calibri"/>
            </a:endParaRPr>
          </a:p>
        </p:txBody>
      </p:sp>
      <p:sp>
        <p:nvSpPr>
          <p:cNvPr id="72" name="Google Shape;72;p16"/>
          <p:cNvSpPr/>
          <p:nvPr/>
        </p:nvSpPr>
        <p:spPr>
          <a:xfrm>
            <a:off x="566928" y="2295144"/>
            <a:ext cx="146304" cy="146304"/>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6"/>
          <p:cNvSpPr/>
          <p:nvPr/>
        </p:nvSpPr>
        <p:spPr>
          <a:xfrm>
            <a:off x="868680" y="2240280"/>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300"/>
              <a:buFont typeface="Calibri"/>
              <a:buNone/>
            </a:pPr>
            <a:r>
              <a:rPr b="1" i="0" lang="fr" sz="1300" u="none" cap="none" strike="noStrike">
                <a:solidFill>
                  <a:srgbClr val="22303C"/>
                </a:solidFill>
                <a:latin typeface="Calibri"/>
                <a:ea typeface="Calibri"/>
                <a:cs typeface="Calibri"/>
                <a:sym typeface="Calibri"/>
              </a:rPr>
              <a:t>Hallucination</a:t>
            </a:r>
            <a:endParaRPr b="0" i="0" sz="1300" u="none" cap="none" strike="noStrike">
              <a:solidFill>
                <a:schemeClr val="dk1"/>
              </a:solidFill>
              <a:latin typeface="Calibri"/>
              <a:ea typeface="Calibri"/>
              <a:cs typeface="Calibri"/>
              <a:sym typeface="Calibri"/>
            </a:endParaRPr>
          </a:p>
        </p:txBody>
      </p:sp>
      <p:sp>
        <p:nvSpPr>
          <p:cNvPr id="74" name="Google Shape;74;p16"/>
          <p:cNvSpPr/>
          <p:nvPr/>
        </p:nvSpPr>
        <p:spPr>
          <a:xfrm>
            <a:off x="2697480" y="2240280"/>
            <a:ext cx="2651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200"/>
              <a:buFont typeface="Calibri"/>
              <a:buNone/>
            </a:pPr>
            <a:r>
              <a:rPr b="0" i="0" lang="fr" sz="1200" u="none" cap="none" strike="noStrike">
                <a:solidFill>
                  <a:srgbClr val="6B7A87"/>
                </a:solidFill>
                <a:latin typeface="Calibri"/>
                <a:ea typeface="Calibri"/>
                <a:cs typeface="Calibri"/>
                <a:sym typeface="Calibri"/>
              </a:rPr>
              <a:t>invente des contraintes absentes de l'énoncé</a:t>
            </a:r>
            <a:endParaRPr b="0" i="0" sz="1200" u="none" cap="none" strike="noStrike">
              <a:solidFill>
                <a:schemeClr val="dk1"/>
              </a:solidFill>
              <a:latin typeface="Calibri"/>
              <a:ea typeface="Calibri"/>
              <a:cs typeface="Calibri"/>
              <a:sym typeface="Calibri"/>
            </a:endParaRPr>
          </a:p>
        </p:txBody>
      </p:sp>
      <p:sp>
        <p:nvSpPr>
          <p:cNvPr id="75" name="Google Shape;75;p16"/>
          <p:cNvSpPr/>
          <p:nvPr/>
        </p:nvSpPr>
        <p:spPr>
          <a:xfrm>
            <a:off x="566928" y="2798064"/>
            <a:ext cx="146304" cy="146304"/>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6"/>
          <p:cNvSpPr/>
          <p:nvPr/>
        </p:nvSpPr>
        <p:spPr>
          <a:xfrm>
            <a:off x="868680" y="2743200"/>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300"/>
              <a:buFont typeface="Calibri"/>
              <a:buNone/>
            </a:pPr>
            <a:r>
              <a:rPr b="1" i="0" lang="fr" sz="1300" u="none" cap="none" strike="noStrike">
                <a:solidFill>
                  <a:srgbClr val="22303C"/>
                </a:solidFill>
                <a:latin typeface="Calibri"/>
                <a:ea typeface="Calibri"/>
                <a:cs typeface="Calibri"/>
                <a:sym typeface="Calibri"/>
              </a:rPr>
              <a:t>Biais d'optimisme</a:t>
            </a:r>
            <a:endParaRPr b="0" i="0" sz="1300" u="none" cap="none" strike="noStrike">
              <a:solidFill>
                <a:schemeClr val="dk1"/>
              </a:solidFill>
              <a:latin typeface="Calibri"/>
              <a:ea typeface="Calibri"/>
              <a:cs typeface="Calibri"/>
              <a:sym typeface="Calibri"/>
            </a:endParaRPr>
          </a:p>
        </p:txBody>
      </p:sp>
      <p:sp>
        <p:nvSpPr>
          <p:cNvPr id="77" name="Google Shape;77;p16"/>
          <p:cNvSpPr/>
          <p:nvPr/>
        </p:nvSpPr>
        <p:spPr>
          <a:xfrm>
            <a:off x="2697480" y="2743200"/>
            <a:ext cx="2651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200"/>
              <a:buFont typeface="Calibri"/>
              <a:buNone/>
            </a:pPr>
            <a:r>
              <a:rPr b="0" i="0" lang="fr" sz="1200" u="none" cap="none" strike="noStrike">
                <a:solidFill>
                  <a:srgbClr val="6B7A87"/>
                </a:solidFill>
                <a:latin typeface="Calibri"/>
                <a:ea typeface="Calibri"/>
                <a:cs typeface="Calibri"/>
                <a:sym typeface="Calibri"/>
              </a:rPr>
              <a:t>force une solution même quand le problème est impossible</a:t>
            </a:r>
            <a:endParaRPr b="0" i="0" sz="1200" u="none" cap="none" strike="noStrike">
              <a:solidFill>
                <a:schemeClr val="dk1"/>
              </a:solidFill>
              <a:latin typeface="Calibri"/>
              <a:ea typeface="Calibri"/>
              <a:cs typeface="Calibri"/>
              <a:sym typeface="Calibri"/>
            </a:endParaRPr>
          </a:p>
        </p:txBody>
      </p:sp>
      <p:sp>
        <p:nvSpPr>
          <p:cNvPr id="78" name="Google Shape;78;p16"/>
          <p:cNvSpPr/>
          <p:nvPr/>
        </p:nvSpPr>
        <p:spPr>
          <a:xfrm>
            <a:off x="566928" y="3300984"/>
            <a:ext cx="146304" cy="146304"/>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p:nvPr/>
        </p:nvSpPr>
        <p:spPr>
          <a:xfrm>
            <a:off x="868680" y="3246120"/>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300"/>
              <a:buFont typeface="Calibri"/>
              <a:buNone/>
            </a:pPr>
            <a:r>
              <a:rPr b="1" i="0" lang="fr" sz="1300" u="none" cap="none" strike="noStrike">
                <a:solidFill>
                  <a:srgbClr val="22303C"/>
                </a:solidFill>
                <a:latin typeface="Calibri"/>
                <a:ea typeface="Calibri"/>
                <a:cs typeface="Calibri"/>
                <a:sym typeface="Calibri"/>
              </a:rPr>
              <a:t>Non-reproductible</a:t>
            </a:r>
            <a:endParaRPr b="0" i="0" sz="1300" u="none" cap="none" strike="noStrike">
              <a:solidFill>
                <a:schemeClr val="dk1"/>
              </a:solidFill>
              <a:latin typeface="Calibri"/>
              <a:ea typeface="Calibri"/>
              <a:cs typeface="Calibri"/>
              <a:sym typeface="Calibri"/>
            </a:endParaRPr>
          </a:p>
        </p:txBody>
      </p:sp>
      <p:sp>
        <p:nvSpPr>
          <p:cNvPr id="80" name="Google Shape;80;p16"/>
          <p:cNvSpPr/>
          <p:nvPr/>
        </p:nvSpPr>
        <p:spPr>
          <a:xfrm>
            <a:off x="2697480" y="3246120"/>
            <a:ext cx="26517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200"/>
              <a:buFont typeface="Calibri"/>
              <a:buNone/>
            </a:pPr>
            <a:r>
              <a:rPr b="0" i="0" lang="fr" sz="1200" u="none" cap="none" strike="noStrike">
                <a:solidFill>
                  <a:srgbClr val="6B7A87"/>
                </a:solidFill>
                <a:latin typeface="Calibri"/>
                <a:ea typeface="Calibri"/>
                <a:cs typeface="Calibri"/>
                <a:sym typeface="Calibri"/>
              </a:rPr>
              <a:t>deux exécutions, deux réponses</a:t>
            </a:r>
            <a:endParaRPr b="0" i="0" sz="1200" u="none" cap="none" strike="noStrike">
              <a:solidFill>
                <a:schemeClr val="dk1"/>
              </a:solidFill>
              <a:latin typeface="Calibri"/>
              <a:ea typeface="Calibri"/>
              <a:cs typeface="Calibri"/>
              <a:sym typeface="Calibri"/>
            </a:endParaRPr>
          </a:p>
        </p:txBody>
      </p:sp>
      <p:sp>
        <p:nvSpPr>
          <p:cNvPr id="81" name="Google Shape;81;p16"/>
          <p:cNvSpPr/>
          <p:nvPr/>
        </p:nvSpPr>
        <p:spPr>
          <a:xfrm>
            <a:off x="5715000" y="1170432"/>
            <a:ext cx="2880360" cy="3063240"/>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p:nvPr/>
        </p:nvSpPr>
        <p:spPr>
          <a:xfrm>
            <a:off x="5989320" y="1417320"/>
            <a:ext cx="2331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fr" sz="1200" u="none" cap="none" strike="noStrike">
                <a:solidFill>
                  <a:srgbClr val="FFFFFF"/>
                </a:solidFill>
                <a:latin typeface="Calibri"/>
                <a:ea typeface="Calibri"/>
                <a:cs typeface="Calibri"/>
                <a:sym typeface="Calibri"/>
              </a:rPr>
              <a:t>À l'inverse, un solveur SAT/SMT :</a:t>
            </a:r>
            <a:endParaRPr b="0" i="0" sz="1200" u="none" cap="none" strike="noStrike">
              <a:solidFill>
                <a:schemeClr val="dk1"/>
              </a:solidFill>
              <a:latin typeface="Calibri"/>
              <a:ea typeface="Calibri"/>
              <a:cs typeface="Calibri"/>
              <a:sym typeface="Calibri"/>
            </a:endParaRPr>
          </a:p>
        </p:txBody>
      </p:sp>
      <p:sp>
        <p:nvSpPr>
          <p:cNvPr id="83" name="Google Shape;83;p16"/>
          <p:cNvSpPr/>
          <p:nvPr/>
        </p:nvSpPr>
        <p:spPr>
          <a:xfrm>
            <a:off x="5989320" y="1965960"/>
            <a:ext cx="2331720" cy="164592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9FB0BC"/>
              </a:buClr>
              <a:buSzPts val="1200"/>
              <a:buFont typeface="Calibri"/>
              <a:buChar char="•"/>
            </a:pPr>
            <a:r>
              <a:rPr b="0" i="0" lang="fr" sz="1200" u="none" cap="none" strike="noStrike">
                <a:solidFill>
                  <a:srgbClr val="9FB0BC"/>
                </a:solidFill>
                <a:latin typeface="Calibri"/>
                <a:ea typeface="Calibri"/>
                <a:cs typeface="Calibri"/>
                <a:sym typeface="Calibri"/>
              </a:rPr>
              <a:t>est complet et correct</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800"/>
              </a:spcBef>
              <a:spcAft>
                <a:spcPts val="0"/>
              </a:spcAft>
              <a:buClr>
                <a:srgbClr val="9FB0BC"/>
              </a:buClr>
              <a:buSzPts val="1200"/>
              <a:buFont typeface="Calibri"/>
              <a:buChar char="•"/>
            </a:pPr>
            <a:r>
              <a:rPr b="0" i="0" lang="fr" sz="1200" u="none" cap="none" strike="noStrike">
                <a:solidFill>
                  <a:srgbClr val="9FB0BC"/>
                </a:solidFill>
                <a:latin typeface="Calibri"/>
                <a:ea typeface="Calibri"/>
                <a:cs typeface="Calibri"/>
                <a:sym typeface="Calibri"/>
              </a:rPr>
              <a:t>prouve l'insatisfiabilité</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800"/>
              </a:spcBef>
              <a:spcAft>
                <a:spcPts val="0"/>
              </a:spcAft>
              <a:buClr>
                <a:srgbClr val="9FB0BC"/>
              </a:buClr>
              <a:buSzPts val="1200"/>
              <a:buFont typeface="Calibri"/>
              <a:buChar char="•"/>
            </a:pPr>
            <a:r>
              <a:rPr b="0" i="0" lang="fr" sz="1200" u="none" cap="none" strike="noStrike">
                <a:solidFill>
                  <a:srgbClr val="9FB0BC"/>
                </a:solidFill>
                <a:latin typeface="Calibri"/>
                <a:ea typeface="Calibri"/>
                <a:cs typeface="Calibri"/>
                <a:sym typeface="Calibri"/>
              </a:rPr>
              <a:t>est déterministe</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800"/>
              </a:spcBef>
              <a:spcAft>
                <a:spcPts val="0"/>
              </a:spcAft>
              <a:buClr>
                <a:srgbClr val="9FB0BC"/>
              </a:buClr>
              <a:buSzPts val="1200"/>
              <a:buFont typeface="Calibri"/>
              <a:buChar char="•"/>
            </a:pPr>
            <a:r>
              <a:rPr b="0" i="0" lang="fr" sz="1200" u="none" cap="none" strike="noStrike">
                <a:solidFill>
                  <a:srgbClr val="9FB0BC"/>
                </a:solidFill>
                <a:latin typeface="Calibri"/>
                <a:ea typeface="Calibri"/>
                <a:cs typeface="Calibri"/>
                <a:sym typeface="Calibri"/>
              </a:rPr>
              <a:t>mais ne comprend pas le français</a:t>
            </a:r>
            <a:endParaRPr b="0" i="0" sz="1200" u="none" cap="none" strike="noStrike">
              <a:solidFill>
                <a:schemeClr val="dk1"/>
              </a:solidFill>
              <a:latin typeface="Calibri"/>
              <a:ea typeface="Calibri"/>
              <a:cs typeface="Calibri"/>
              <a:sym typeface="Calibri"/>
            </a:endParaRPr>
          </a:p>
        </p:txBody>
      </p:sp>
      <p:sp>
        <p:nvSpPr>
          <p:cNvPr id="84" name="Google Shape;84;p16"/>
          <p:cNvSpPr/>
          <p:nvPr/>
        </p:nvSpPr>
        <p:spPr>
          <a:xfrm>
            <a:off x="5989320" y="3703320"/>
            <a:ext cx="2331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0" i="1" lang="fr" sz="1100" u="none" cap="none" strike="noStrike">
                <a:solidFill>
                  <a:srgbClr val="B5533C"/>
                </a:solidFill>
                <a:latin typeface="Calibri"/>
                <a:ea typeface="Calibri"/>
                <a:cs typeface="Calibri"/>
                <a:sym typeface="Calibri"/>
              </a:rPr>
              <a:t>Chacun a exactement ce qui manque à l'autre.</a:t>
            </a:r>
            <a:endParaRPr b="0" i="0" sz="1100" u="none" cap="none" strike="noStrike">
              <a:solidFill>
                <a:schemeClr val="dk1"/>
              </a:solidFill>
              <a:latin typeface="Calibri"/>
              <a:ea typeface="Calibri"/>
              <a:cs typeface="Calibri"/>
              <a:sym typeface="Calibri"/>
            </a:endParaRPr>
          </a:p>
        </p:txBody>
      </p:sp>
      <p:sp>
        <p:nvSpPr>
          <p:cNvPr id="85" name="Google Shape;85;p16"/>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90" name="Shape 90"/>
        <p:cNvGrpSpPr/>
        <p:nvPr/>
      </p:nvGrpSpPr>
      <p:grpSpPr>
        <a:xfrm>
          <a:off x="0" y="0"/>
          <a:ext cx="0" cy="0"/>
          <a:chOff x="0" y="0"/>
          <a:chExt cx="0" cy="0"/>
        </a:xfrm>
      </p:grpSpPr>
      <p:sp>
        <p:nvSpPr>
          <p:cNvPr id="91" name="Google Shape;91;p17"/>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NOTRE POSITIONNEMENT</a:t>
            </a:r>
            <a:endParaRPr b="0" i="0" sz="1100" u="none" cap="none" strike="noStrike">
              <a:solidFill>
                <a:schemeClr val="dk1"/>
              </a:solidFill>
              <a:latin typeface="Calibri"/>
              <a:ea typeface="Calibri"/>
              <a:cs typeface="Calibri"/>
              <a:sym typeface="Calibri"/>
            </a:endParaRPr>
          </a:p>
        </p:txBody>
      </p:sp>
      <p:sp>
        <p:nvSpPr>
          <p:cNvPr id="92" name="Google Shape;92;p17"/>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Le LLM traduit, le solveur décide</a:t>
            </a:r>
            <a:endParaRPr b="0" i="0" sz="3000" u="none" cap="none" strike="noStrike">
              <a:solidFill>
                <a:schemeClr val="dk1"/>
              </a:solidFill>
              <a:latin typeface="Calibri"/>
              <a:ea typeface="Calibri"/>
              <a:cs typeface="Calibri"/>
              <a:sym typeface="Calibri"/>
            </a:endParaRPr>
          </a:p>
        </p:txBody>
      </p:sp>
      <p:sp>
        <p:nvSpPr>
          <p:cNvPr id="93" name="Google Shape;93;p17"/>
          <p:cNvSpPr/>
          <p:nvPr/>
        </p:nvSpPr>
        <p:spPr>
          <a:xfrm>
            <a:off x="548640" y="1417320"/>
            <a:ext cx="2468880" cy="192024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7"/>
          <p:cNvSpPr/>
          <p:nvPr/>
        </p:nvSpPr>
        <p:spPr>
          <a:xfrm>
            <a:off x="777240" y="1737360"/>
            <a:ext cx="2011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700"/>
              <a:buFont typeface="Cambria"/>
              <a:buNone/>
            </a:pPr>
            <a:r>
              <a:rPr b="1" i="0" lang="fr" sz="1700" u="none" cap="none" strike="noStrike">
                <a:solidFill>
                  <a:srgbClr val="22303C"/>
                </a:solidFill>
                <a:latin typeface="Cambria"/>
                <a:ea typeface="Cambria"/>
                <a:cs typeface="Cambria"/>
                <a:sym typeface="Cambria"/>
              </a:rPr>
              <a:t>Langage naturel</a:t>
            </a:r>
            <a:endParaRPr b="0" i="0" sz="1700" u="none" cap="none" strike="noStrike">
              <a:solidFill>
                <a:schemeClr val="dk1"/>
              </a:solidFill>
              <a:latin typeface="Calibri"/>
              <a:ea typeface="Calibri"/>
              <a:cs typeface="Calibri"/>
              <a:sym typeface="Calibri"/>
            </a:endParaRPr>
          </a:p>
        </p:txBody>
      </p:sp>
      <p:sp>
        <p:nvSpPr>
          <p:cNvPr id="95" name="Google Shape;95;p17"/>
          <p:cNvSpPr/>
          <p:nvPr/>
        </p:nvSpPr>
        <p:spPr>
          <a:xfrm>
            <a:off x="777240" y="2148840"/>
            <a:ext cx="2011680" cy="91440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6B7A87"/>
              </a:buClr>
              <a:buSzPts val="1200"/>
              <a:buFont typeface="Calibri"/>
              <a:buNone/>
            </a:pPr>
            <a:r>
              <a:rPr b="0" i="0" lang="fr" sz="1200" u="none" cap="none" strike="noStrike">
                <a:solidFill>
                  <a:srgbClr val="6B7A87"/>
                </a:solidFill>
                <a:latin typeface="Calibri"/>
                <a:ea typeface="Calibri"/>
                <a:cs typeface="Calibri"/>
                <a:sym typeface="Calibri"/>
              </a:rPr>
              <a:t>L'énoncé, tel qu'un humain l'écrit</a:t>
            </a:r>
            <a:endParaRPr b="0" i="0" sz="1200" u="none" cap="none" strike="noStrike">
              <a:solidFill>
                <a:schemeClr val="dk1"/>
              </a:solidFill>
              <a:latin typeface="Calibri"/>
              <a:ea typeface="Calibri"/>
              <a:cs typeface="Calibri"/>
              <a:sym typeface="Calibri"/>
            </a:endParaRPr>
          </a:p>
        </p:txBody>
      </p:sp>
      <p:sp>
        <p:nvSpPr>
          <p:cNvPr id="96" name="Google Shape;96;p17"/>
          <p:cNvSpPr/>
          <p:nvPr/>
        </p:nvSpPr>
        <p:spPr>
          <a:xfrm>
            <a:off x="3035808" y="2148840"/>
            <a:ext cx="4572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5533C"/>
              </a:buClr>
              <a:buSzPts val="2000"/>
              <a:buFont typeface="Calibri"/>
              <a:buNone/>
            </a:pPr>
            <a:r>
              <a:rPr b="1" i="0" lang="fr" sz="2000" u="none" cap="none" strike="noStrike">
                <a:solidFill>
                  <a:srgbClr val="B5533C"/>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97" name="Google Shape;97;p17"/>
          <p:cNvSpPr/>
          <p:nvPr/>
        </p:nvSpPr>
        <p:spPr>
          <a:xfrm>
            <a:off x="3429000" y="1417320"/>
            <a:ext cx="2468880" cy="1920240"/>
          </a:xfrm>
          <a:prstGeom prst="rect">
            <a:avLst/>
          </a:prstGeom>
          <a:solidFill>
            <a:srgbClr val="22303C"/>
          </a:solidFill>
          <a:ln cap="flat" cmpd="sng" w="12700">
            <a:solidFill>
              <a:srgbClr val="2230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7"/>
          <p:cNvSpPr/>
          <p:nvPr/>
        </p:nvSpPr>
        <p:spPr>
          <a:xfrm>
            <a:off x="3657600" y="1600200"/>
            <a:ext cx="15159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000"/>
              <a:buFont typeface="Calibri"/>
              <a:buNone/>
            </a:pPr>
            <a:r>
              <a:rPr b="1" i="0" lang="fr" sz="1000" u="none" cap="none" strike="noStrike">
                <a:solidFill>
                  <a:srgbClr val="B5533C"/>
                </a:solidFill>
                <a:latin typeface="Calibri"/>
                <a:ea typeface="Calibri"/>
                <a:cs typeface="Calibri"/>
                <a:sym typeface="Calibri"/>
              </a:rPr>
              <a:t>LLM </a:t>
            </a:r>
            <a:r>
              <a:rPr b="1" lang="fr" sz="1000">
                <a:solidFill>
                  <a:srgbClr val="B5533C"/>
                </a:solidFill>
                <a:latin typeface="Calibri"/>
                <a:ea typeface="Calibri"/>
                <a:cs typeface="Calibri"/>
                <a:sym typeface="Calibri"/>
              </a:rPr>
              <a:t>(Qwen 2.5-coder)</a:t>
            </a:r>
            <a:endParaRPr b="0" i="0" sz="1000" u="none" cap="none" strike="noStrike">
              <a:solidFill>
                <a:schemeClr val="dk1"/>
              </a:solidFill>
              <a:latin typeface="Calibri"/>
              <a:ea typeface="Calibri"/>
              <a:cs typeface="Calibri"/>
              <a:sym typeface="Calibri"/>
            </a:endParaRPr>
          </a:p>
        </p:txBody>
      </p:sp>
      <p:sp>
        <p:nvSpPr>
          <p:cNvPr id="99" name="Google Shape;99;p17"/>
          <p:cNvSpPr/>
          <p:nvPr/>
        </p:nvSpPr>
        <p:spPr>
          <a:xfrm>
            <a:off x="3657600" y="1874520"/>
            <a:ext cx="2011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mbria"/>
              <a:buNone/>
            </a:pPr>
            <a:r>
              <a:rPr b="1" i="0" lang="fr" sz="1700" u="none" cap="none" strike="noStrike">
                <a:solidFill>
                  <a:srgbClr val="FFFFFF"/>
                </a:solidFill>
                <a:latin typeface="Cambria"/>
                <a:ea typeface="Cambria"/>
                <a:cs typeface="Cambria"/>
                <a:sym typeface="Cambria"/>
              </a:rPr>
              <a:t>Modèle symbolique</a:t>
            </a:r>
            <a:endParaRPr b="0" i="0" sz="1700" u="none" cap="none" strike="noStrike">
              <a:solidFill>
                <a:schemeClr val="dk1"/>
              </a:solidFill>
              <a:latin typeface="Calibri"/>
              <a:ea typeface="Calibri"/>
              <a:cs typeface="Calibri"/>
              <a:sym typeface="Calibri"/>
            </a:endParaRPr>
          </a:p>
        </p:txBody>
      </p:sp>
      <p:sp>
        <p:nvSpPr>
          <p:cNvPr id="100" name="Google Shape;100;p17"/>
          <p:cNvSpPr/>
          <p:nvPr/>
        </p:nvSpPr>
        <p:spPr>
          <a:xfrm>
            <a:off x="3657600" y="2286000"/>
            <a:ext cx="2011680" cy="91440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9FB0BC"/>
              </a:buClr>
              <a:buSzPts val="1200"/>
              <a:buFont typeface="Calibri"/>
              <a:buNone/>
            </a:pPr>
            <a:r>
              <a:rPr b="0" i="0" lang="fr" sz="1200" u="none" cap="none" strike="noStrike">
                <a:solidFill>
                  <a:srgbClr val="9FB0BC"/>
                </a:solidFill>
                <a:latin typeface="Calibri"/>
                <a:ea typeface="Calibri"/>
                <a:cs typeface="Calibri"/>
                <a:sym typeface="Calibri"/>
              </a:rPr>
              <a:t>JSON strict, validé par Pydantic</a:t>
            </a:r>
            <a:endParaRPr b="0" i="0" sz="1200" u="none" cap="none" strike="noStrike">
              <a:solidFill>
                <a:schemeClr val="dk1"/>
              </a:solidFill>
              <a:latin typeface="Calibri"/>
              <a:ea typeface="Calibri"/>
              <a:cs typeface="Calibri"/>
              <a:sym typeface="Calibri"/>
            </a:endParaRPr>
          </a:p>
          <a:p>
            <a:pPr indent="0" lvl="0" marL="0" marR="0" rtl="0" algn="l">
              <a:lnSpc>
                <a:spcPct val="141666"/>
              </a:lnSpc>
              <a:spcBef>
                <a:spcPts val="0"/>
              </a:spcBef>
              <a:spcAft>
                <a:spcPts val="0"/>
              </a:spcAft>
              <a:buClr>
                <a:srgbClr val="9FB0BC"/>
              </a:buClr>
              <a:buSzPts val="1200"/>
              <a:buFont typeface="Calibri"/>
              <a:buNone/>
            </a:pPr>
            <a:r>
              <a:rPr b="0" i="0" lang="fr" sz="1200" u="none" cap="none" strike="noStrike">
                <a:solidFill>
                  <a:srgbClr val="9FB0BC"/>
                </a:solidFill>
                <a:latin typeface="Calibri"/>
                <a:ea typeface="Calibri"/>
                <a:cs typeface="Calibri"/>
                <a:sym typeface="Calibri"/>
              </a:rPr>
              <a:t>Variables · contraintes · objectif</a:t>
            </a:r>
            <a:endParaRPr b="0" i="0" sz="1200" u="none" cap="none" strike="noStrike">
              <a:solidFill>
                <a:schemeClr val="dk1"/>
              </a:solidFill>
              <a:latin typeface="Calibri"/>
              <a:ea typeface="Calibri"/>
              <a:cs typeface="Calibri"/>
              <a:sym typeface="Calibri"/>
            </a:endParaRPr>
          </a:p>
        </p:txBody>
      </p:sp>
      <p:sp>
        <p:nvSpPr>
          <p:cNvPr id="101" name="Google Shape;101;p17"/>
          <p:cNvSpPr/>
          <p:nvPr/>
        </p:nvSpPr>
        <p:spPr>
          <a:xfrm>
            <a:off x="5916168" y="2148840"/>
            <a:ext cx="4572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5533C"/>
              </a:buClr>
              <a:buSzPts val="2000"/>
              <a:buFont typeface="Calibri"/>
              <a:buNone/>
            </a:pPr>
            <a:r>
              <a:rPr b="1" i="0" lang="fr" sz="2000" u="none" cap="none" strike="noStrike">
                <a:solidFill>
                  <a:srgbClr val="B5533C"/>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102" name="Google Shape;102;p17"/>
          <p:cNvSpPr/>
          <p:nvPr/>
        </p:nvSpPr>
        <p:spPr>
          <a:xfrm>
            <a:off x="6309360" y="1417320"/>
            <a:ext cx="2468880" cy="192024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7"/>
          <p:cNvSpPr/>
          <p:nvPr/>
        </p:nvSpPr>
        <p:spPr>
          <a:xfrm>
            <a:off x="6537960" y="1600200"/>
            <a:ext cx="914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000"/>
              <a:buFont typeface="Calibri"/>
              <a:buNone/>
            </a:pPr>
            <a:r>
              <a:rPr b="1" i="0" lang="fr" sz="1000" u="none" cap="none" strike="noStrike">
                <a:solidFill>
                  <a:srgbClr val="B5533C"/>
                </a:solidFill>
                <a:latin typeface="Calibri"/>
                <a:ea typeface="Calibri"/>
                <a:cs typeface="Calibri"/>
                <a:sym typeface="Calibri"/>
              </a:rPr>
              <a:t>Z3</a:t>
            </a:r>
            <a:endParaRPr b="0" i="0" sz="1000" u="none" cap="none" strike="noStrike">
              <a:solidFill>
                <a:schemeClr val="dk1"/>
              </a:solidFill>
              <a:latin typeface="Calibri"/>
              <a:ea typeface="Calibri"/>
              <a:cs typeface="Calibri"/>
              <a:sym typeface="Calibri"/>
            </a:endParaRPr>
          </a:p>
        </p:txBody>
      </p:sp>
      <p:sp>
        <p:nvSpPr>
          <p:cNvPr id="104" name="Google Shape;104;p17"/>
          <p:cNvSpPr/>
          <p:nvPr/>
        </p:nvSpPr>
        <p:spPr>
          <a:xfrm>
            <a:off x="6537960" y="1874520"/>
            <a:ext cx="2011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700"/>
              <a:buFont typeface="Cambria"/>
              <a:buNone/>
            </a:pPr>
            <a:r>
              <a:rPr b="1" i="0" lang="fr" sz="1700" u="none" cap="none" strike="noStrike">
                <a:solidFill>
                  <a:srgbClr val="22303C"/>
                </a:solidFill>
                <a:latin typeface="Cambria"/>
                <a:ea typeface="Cambria"/>
                <a:cs typeface="Cambria"/>
                <a:sym typeface="Cambria"/>
              </a:rPr>
              <a:t>Preuve / solution</a:t>
            </a:r>
            <a:endParaRPr b="0" i="0" sz="1700" u="none" cap="none" strike="noStrike">
              <a:solidFill>
                <a:schemeClr val="dk1"/>
              </a:solidFill>
              <a:latin typeface="Calibri"/>
              <a:ea typeface="Calibri"/>
              <a:cs typeface="Calibri"/>
              <a:sym typeface="Calibri"/>
            </a:endParaRPr>
          </a:p>
        </p:txBody>
      </p:sp>
      <p:sp>
        <p:nvSpPr>
          <p:cNvPr id="105" name="Google Shape;105;p17"/>
          <p:cNvSpPr/>
          <p:nvPr/>
        </p:nvSpPr>
        <p:spPr>
          <a:xfrm>
            <a:off x="6537960" y="2286000"/>
            <a:ext cx="2011680" cy="914400"/>
          </a:xfrm>
          <a:prstGeom prst="rect">
            <a:avLst/>
          </a:prstGeom>
          <a:noFill/>
          <a:ln>
            <a:noFill/>
          </a:ln>
        </p:spPr>
        <p:txBody>
          <a:bodyPr anchorCtr="0" anchor="ctr" bIns="0" lIns="0" spcFirstLastPara="1" rIns="0" wrap="square" tIns="0">
            <a:noAutofit/>
          </a:bodyPr>
          <a:lstStyle/>
          <a:p>
            <a:pPr indent="0" lvl="0" marL="0" marR="0" rtl="0" algn="l">
              <a:lnSpc>
                <a:spcPct val="141666"/>
              </a:lnSpc>
              <a:spcBef>
                <a:spcPts val="0"/>
              </a:spcBef>
              <a:spcAft>
                <a:spcPts val="0"/>
              </a:spcAft>
              <a:buClr>
                <a:srgbClr val="6B7A87"/>
              </a:buClr>
              <a:buSzPts val="1200"/>
              <a:buFont typeface="Calibri"/>
              <a:buNone/>
            </a:pPr>
            <a:r>
              <a:rPr b="0" i="0" lang="fr" sz="1200" u="none" cap="none" strike="noStrike">
                <a:solidFill>
                  <a:srgbClr val="6B7A87"/>
                </a:solidFill>
                <a:latin typeface="Calibri"/>
                <a:ea typeface="Calibri"/>
                <a:cs typeface="Calibri"/>
                <a:sym typeface="Calibri"/>
              </a:rPr>
              <a:t>SAT · UNSAT · optimum · plan</a:t>
            </a:r>
            <a:endParaRPr b="0" i="0" sz="1200" u="none" cap="none" strike="noStrike">
              <a:solidFill>
                <a:schemeClr val="dk1"/>
              </a:solidFill>
              <a:latin typeface="Calibri"/>
              <a:ea typeface="Calibri"/>
              <a:cs typeface="Calibri"/>
              <a:sym typeface="Calibri"/>
            </a:endParaRPr>
          </a:p>
        </p:txBody>
      </p:sp>
      <p:sp>
        <p:nvSpPr>
          <p:cNvPr id="106" name="Google Shape;106;p17"/>
          <p:cNvSpPr/>
          <p:nvPr/>
        </p:nvSpPr>
        <p:spPr>
          <a:xfrm>
            <a:off x="548640" y="3703320"/>
            <a:ext cx="8046720" cy="54864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22303C"/>
              </a:buClr>
              <a:buSzPts val="1300"/>
              <a:buFont typeface="Calibri"/>
              <a:buNone/>
            </a:pPr>
            <a:r>
              <a:rPr b="0" i="1" lang="fr" sz="1300" u="none" cap="none" strike="noStrike">
                <a:solidFill>
                  <a:srgbClr val="22303C"/>
                </a:solidFill>
                <a:latin typeface="Calibri"/>
                <a:ea typeface="Calibri"/>
                <a:cs typeface="Calibri"/>
                <a:sym typeface="Calibri"/>
              </a:rPr>
              <a:t>Le LLM n'a plus le droit de conclure. Il n'a qu'un seul travail : produire une formalisation fidèle. Toute la charge de la vérité repose sur le noyau symbolique.</a:t>
            </a:r>
            <a:endParaRPr b="0" i="0" sz="1300" u="none" cap="none" strike="noStrike">
              <a:solidFill>
                <a:schemeClr val="dk1"/>
              </a:solidFill>
              <a:latin typeface="Calibri"/>
              <a:ea typeface="Calibri"/>
              <a:cs typeface="Calibri"/>
              <a:sym typeface="Calibri"/>
            </a:endParaRPr>
          </a:p>
        </p:txBody>
      </p:sp>
      <p:sp>
        <p:nvSpPr>
          <p:cNvPr id="107" name="Google Shape;107;p17"/>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112" name="Shape 112"/>
        <p:cNvGrpSpPr/>
        <p:nvPr/>
      </p:nvGrpSpPr>
      <p:grpSpPr>
        <a:xfrm>
          <a:off x="0" y="0"/>
          <a:ext cx="0" cy="0"/>
          <a:chOff x="0" y="0"/>
          <a:chExt cx="0" cy="0"/>
        </a:xfrm>
      </p:grpSpPr>
      <p:sp>
        <p:nvSpPr>
          <p:cNvPr id="113" name="Google Shape;113;p18"/>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ARCHITECTURE</a:t>
            </a:r>
            <a:endParaRPr b="0" i="0" sz="1100" u="none" cap="none" strike="noStrike">
              <a:solidFill>
                <a:schemeClr val="dk1"/>
              </a:solidFill>
              <a:latin typeface="Calibri"/>
              <a:ea typeface="Calibri"/>
              <a:cs typeface="Calibri"/>
              <a:sym typeface="Calibri"/>
            </a:endParaRPr>
          </a:p>
        </p:txBody>
      </p:sp>
      <p:sp>
        <p:nvSpPr>
          <p:cNvPr id="114" name="Google Shape;114;p18"/>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Six modules, une boucle</a:t>
            </a:r>
            <a:endParaRPr b="0" i="0" sz="3000" u="none" cap="none" strike="noStrike">
              <a:solidFill>
                <a:schemeClr val="dk1"/>
              </a:solidFill>
              <a:latin typeface="Calibri"/>
              <a:ea typeface="Calibri"/>
              <a:cs typeface="Calibri"/>
              <a:sym typeface="Calibri"/>
            </a:endParaRPr>
          </a:p>
        </p:txBody>
      </p:sp>
      <p:sp>
        <p:nvSpPr>
          <p:cNvPr id="115" name="Google Shape;115;p18"/>
          <p:cNvSpPr/>
          <p:nvPr/>
        </p:nvSpPr>
        <p:spPr>
          <a:xfrm>
            <a:off x="548640" y="1371600"/>
            <a:ext cx="1874520" cy="16002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8"/>
          <p:cNvSpPr/>
          <p:nvPr/>
        </p:nvSpPr>
        <p:spPr>
          <a:xfrm>
            <a:off x="731520" y="1554480"/>
            <a:ext cx="292608" cy="292608"/>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8"/>
          <p:cNvSpPr/>
          <p:nvPr/>
        </p:nvSpPr>
        <p:spPr>
          <a:xfrm>
            <a:off x="731520" y="1572768"/>
            <a:ext cx="29260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fr"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18" name="Google Shape;118;p18"/>
          <p:cNvSpPr/>
          <p:nvPr/>
        </p:nvSpPr>
        <p:spPr>
          <a:xfrm>
            <a:off x="731520" y="1938528"/>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200"/>
              <a:buFont typeface="Courier New"/>
              <a:buNone/>
            </a:pPr>
            <a:r>
              <a:rPr b="1" i="0" lang="fr" sz="1200" u="none" cap="none" strike="noStrike">
                <a:solidFill>
                  <a:srgbClr val="22303C"/>
                </a:solidFill>
                <a:latin typeface="Courier New"/>
                <a:ea typeface="Courier New"/>
                <a:cs typeface="Courier New"/>
                <a:sym typeface="Courier New"/>
              </a:rPr>
              <a:t>translator</a:t>
            </a:r>
            <a:endParaRPr b="0" i="0" sz="1200" u="none" cap="none" strike="noStrike">
              <a:solidFill>
                <a:schemeClr val="dk1"/>
              </a:solidFill>
              <a:latin typeface="Calibri"/>
              <a:ea typeface="Calibri"/>
              <a:cs typeface="Calibri"/>
              <a:sym typeface="Calibri"/>
            </a:endParaRPr>
          </a:p>
        </p:txBody>
      </p:sp>
      <p:sp>
        <p:nvSpPr>
          <p:cNvPr id="119" name="Google Shape;119;p18"/>
          <p:cNvSpPr/>
          <p:nvPr/>
        </p:nvSpPr>
        <p:spPr>
          <a:xfrm>
            <a:off x="731520" y="2267712"/>
            <a:ext cx="1600200" cy="6400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Prompt système + appel Ollama</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 JSON</a:t>
            </a:r>
            <a:endParaRPr b="0" i="0" sz="1000" u="none" cap="none" strike="noStrike">
              <a:solidFill>
                <a:schemeClr val="dk1"/>
              </a:solidFill>
              <a:latin typeface="Calibri"/>
              <a:ea typeface="Calibri"/>
              <a:cs typeface="Calibri"/>
              <a:sym typeface="Calibri"/>
            </a:endParaRPr>
          </a:p>
        </p:txBody>
      </p:sp>
      <p:sp>
        <p:nvSpPr>
          <p:cNvPr id="120" name="Google Shape;120;p18"/>
          <p:cNvSpPr/>
          <p:nvPr/>
        </p:nvSpPr>
        <p:spPr>
          <a:xfrm>
            <a:off x="2606040" y="1371600"/>
            <a:ext cx="1874520" cy="16002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8"/>
          <p:cNvSpPr/>
          <p:nvPr/>
        </p:nvSpPr>
        <p:spPr>
          <a:xfrm>
            <a:off x="2788920" y="1554480"/>
            <a:ext cx="292608" cy="292608"/>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8"/>
          <p:cNvSpPr/>
          <p:nvPr/>
        </p:nvSpPr>
        <p:spPr>
          <a:xfrm>
            <a:off x="2788920" y="1572768"/>
            <a:ext cx="29260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fr"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23" name="Google Shape;123;p18"/>
          <p:cNvSpPr/>
          <p:nvPr/>
        </p:nvSpPr>
        <p:spPr>
          <a:xfrm>
            <a:off x="2788920" y="1938528"/>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200"/>
              <a:buFont typeface="Courier New"/>
              <a:buNone/>
            </a:pPr>
            <a:r>
              <a:rPr b="1" i="0" lang="fr" sz="1200" u="none" cap="none" strike="noStrike">
                <a:solidFill>
                  <a:srgbClr val="22303C"/>
                </a:solidFill>
                <a:latin typeface="Courier New"/>
                <a:ea typeface="Courier New"/>
                <a:cs typeface="Courier New"/>
                <a:sym typeface="Courier New"/>
              </a:rPr>
              <a:t>validator</a:t>
            </a:r>
            <a:endParaRPr b="0" i="0" sz="1200" u="none" cap="none" strike="noStrike">
              <a:solidFill>
                <a:schemeClr val="dk1"/>
              </a:solidFill>
              <a:latin typeface="Calibri"/>
              <a:ea typeface="Calibri"/>
              <a:cs typeface="Calibri"/>
              <a:sym typeface="Calibri"/>
            </a:endParaRPr>
          </a:p>
        </p:txBody>
      </p:sp>
      <p:sp>
        <p:nvSpPr>
          <p:cNvPr id="124" name="Google Shape;124;p18"/>
          <p:cNvSpPr/>
          <p:nvPr/>
        </p:nvSpPr>
        <p:spPr>
          <a:xfrm>
            <a:off x="2788920" y="2267712"/>
            <a:ext cx="1600200" cy="6400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AST · variables · typage Z3</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3 passes</a:t>
            </a:r>
            <a:endParaRPr b="0" i="0" sz="1000" u="none" cap="none" strike="noStrike">
              <a:solidFill>
                <a:schemeClr val="dk1"/>
              </a:solidFill>
              <a:latin typeface="Calibri"/>
              <a:ea typeface="Calibri"/>
              <a:cs typeface="Calibri"/>
              <a:sym typeface="Calibri"/>
            </a:endParaRPr>
          </a:p>
        </p:txBody>
      </p:sp>
      <p:sp>
        <p:nvSpPr>
          <p:cNvPr id="125" name="Google Shape;125;p18"/>
          <p:cNvSpPr/>
          <p:nvPr/>
        </p:nvSpPr>
        <p:spPr>
          <a:xfrm>
            <a:off x="4663440" y="1371600"/>
            <a:ext cx="1874520" cy="16002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8"/>
          <p:cNvSpPr/>
          <p:nvPr/>
        </p:nvSpPr>
        <p:spPr>
          <a:xfrm>
            <a:off x="4846320" y="1554480"/>
            <a:ext cx="292608" cy="292608"/>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8"/>
          <p:cNvSpPr/>
          <p:nvPr/>
        </p:nvSpPr>
        <p:spPr>
          <a:xfrm>
            <a:off x="4846320" y="1572768"/>
            <a:ext cx="29260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fr"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28" name="Google Shape;128;p18"/>
          <p:cNvSpPr/>
          <p:nvPr/>
        </p:nvSpPr>
        <p:spPr>
          <a:xfrm>
            <a:off x="4846320" y="1938528"/>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200"/>
              <a:buFont typeface="Courier New"/>
              <a:buNone/>
            </a:pPr>
            <a:r>
              <a:rPr b="1" i="0" lang="fr" sz="1200" u="none" cap="none" strike="noStrike">
                <a:solidFill>
                  <a:srgbClr val="22303C"/>
                </a:solidFill>
                <a:latin typeface="Courier New"/>
                <a:ea typeface="Courier New"/>
                <a:cs typeface="Courier New"/>
                <a:sym typeface="Courier New"/>
              </a:rPr>
              <a:t>solver_backend</a:t>
            </a:r>
            <a:endParaRPr b="0" i="0" sz="1200" u="none" cap="none" strike="noStrike">
              <a:solidFill>
                <a:schemeClr val="dk1"/>
              </a:solidFill>
              <a:latin typeface="Calibri"/>
              <a:ea typeface="Calibri"/>
              <a:cs typeface="Calibri"/>
              <a:sym typeface="Calibri"/>
            </a:endParaRPr>
          </a:p>
        </p:txBody>
      </p:sp>
      <p:sp>
        <p:nvSpPr>
          <p:cNvPr id="129" name="Google Shape;129;p18"/>
          <p:cNvSpPr/>
          <p:nvPr/>
        </p:nvSpPr>
        <p:spPr>
          <a:xfrm>
            <a:off x="4846320" y="2267712"/>
            <a:ext cx="1600200" cy="6400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Z3 Solver / Optimize</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 recherche PDDL</a:t>
            </a:r>
            <a:endParaRPr b="0" i="0" sz="1000" u="none" cap="none" strike="noStrike">
              <a:solidFill>
                <a:schemeClr val="dk1"/>
              </a:solidFill>
              <a:latin typeface="Calibri"/>
              <a:ea typeface="Calibri"/>
              <a:cs typeface="Calibri"/>
              <a:sym typeface="Calibri"/>
            </a:endParaRPr>
          </a:p>
        </p:txBody>
      </p:sp>
      <p:sp>
        <p:nvSpPr>
          <p:cNvPr id="130" name="Google Shape;130;p18"/>
          <p:cNvSpPr/>
          <p:nvPr/>
        </p:nvSpPr>
        <p:spPr>
          <a:xfrm>
            <a:off x="6720840" y="1371600"/>
            <a:ext cx="1874520" cy="16002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8"/>
          <p:cNvSpPr/>
          <p:nvPr/>
        </p:nvSpPr>
        <p:spPr>
          <a:xfrm>
            <a:off x="6903720" y="1554480"/>
            <a:ext cx="292608" cy="292608"/>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8"/>
          <p:cNvSpPr/>
          <p:nvPr/>
        </p:nvSpPr>
        <p:spPr>
          <a:xfrm>
            <a:off x="6903720" y="1572768"/>
            <a:ext cx="292608"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fr"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33" name="Google Shape;133;p18"/>
          <p:cNvSpPr/>
          <p:nvPr/>
        </p:nvSpPr>
        <p:spPr>
          <a:xfrm>
            <a:off x="6903720" y="1938528"/>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200"/>
              <a:buFont typeface="Courier New"/>
              <a:buNone/>
            </a:pPr>
            <a:r>
              <a:rPr b="1" i="0" lang="fr" sz="1200" u="none" cap="none" strike="noStrike">
                <a:solidFill>
                  <a:srgbClr val="22303C"/>
                </a:solidFill>
                <a:latin typeface="Courier New"/>
                <a:ea typeface="Courier New"/>
                <a:cs typeface="Courier New"/>
                <a:sym typeface="Courier New"/>
              </a:rPr>
              <a:t>interpreter</a:t>
            </a:r>
            <a:endParaRPr b="0" i="0" sz="1200" u="none" cap="none" strike="noStrike">
              <a:solidFill>
                <a:schemeClr val="dk1"/>
              </a:solidFill>
              <a:latin typeface="Calibri"/>
              <a:ea typeface="Calibri"/>
              <a:cs typeface="Calibri"/>
              <a:sym typeface="Calibri"/>
            </a:endParaRPr>
          </a:p>
        </p:txBody>
      </p:sp>
      <p:sp>
        <p:nvSpPr>
          <p:cNvPr id="134" name="Google Shape;134;p18"/>
          <p:cNvSpPr/>
          <p:nvPr/>
        </p:nvSpPr>
        <p:spPr>
          <a:xfrm>
            <a:off x="6903720" y="2267712"/>
            <a:ext cx="1600200" cy="6400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Résultat brut → réponse</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6B7A87"/>
              </a:buClr>
              <a:buSzPts val="1000"/>
              <a:buFont typeface="Calibri"/>
              <a:buNone/>
            </a:pPr>
            <a:r>
              <a:rPr b="0" i="0" lang="fr" sz="1000" u="none" cap="none" strike="noStrike">
                <a:solidFill>
                  <a:srgbClr val="6B7A87"/>
                </a:solidFill>
                <a:latin typeface="Calibri"/>
                <a:ea typeface="Calibri"/>
                <a:cs typeface="Calibri"/>
                <a:sym typeface="Calibri"/>
              </a:rPr>
              <a:t>en français</a:t>
            </a:r>
            <a:endParaRPr b="0" i="0" sz="1000" u="none" cap="none" strike="noStrike">
              <a:solidFill>
                <a:schemeClr val="dk1"/>
              </a:solidFill>
              <a:latin typeface="Calibri"/>
              <a:ea typeface="Calibri"/>
              <a:cs typeface="Calibri"/>
              <a:sym typeface="Calibri"/>
            </a:endParaRPr>
          </a:p>
        </p:txBody>
      </p:sp>
      <p:sp>
        <p:nvSpPr>
          <p:cNvPr id="135" name="Google Shape;135;p18"/>
          <p:cNvSpPr/>
          <p:nvPr/>
        </p:nvSpPr>
        <p:spPr>
          <a:xfrm>
            <a:off x="548640" y="3200400"/>
            <a:ext cx="6080760" cy="566928"/>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8"/>
          <p:cNvSpPr/>
          <p:nvPr/>
        </p:nvSpPr>
        <p:spPr>
          <a:xfrm>
            <a:off x="731520" y="3291840"/>
            <a:ext cx="57607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0" i="0" lang="fr" sz="1100" u="none" cap="none" strike="noStrike">
                <a:solidFill>
                  <a:srgbClr val="FFFFFF"/>
                </a:solidFill>
                <a:latin typeface="Calibri"/>
                <a:ea typeface="Calibri"/>
                <a:cs typeface="Calibri"/>
                <a:sym typeface="Calibri"/>
              </a:rPr>
              <a:t>correction_loop  —  en cas d'échec de validation, le message d'erreur est renvoyé au LLM (re-prompting)</a:t>
            </a:r>
            <a:endParaRPr b="0" i="0" sz="1100" u="none" cap="none" strike="noStrike">
              <a:solidFill>
                <a:schemeClr val="dk1"/>
              </a:solidFill>
              <a:latin typeface="Calibri"/>
              <a:ea typeface="Calibri"/>
              <a:cs typeface="Calibri"/>
              <a:sym typeface="Calibri"/>
            </a:endParaRPr>
          </a:p>
        </p:txBody>
      </p:sp>
      <p:sp>
        <p:nvSpPr>
          <p:cNvPr id="137" name="Google Shape;137;p18"/>
          <p:cNvSpPr/>
          <p:nvPr/>
        </p:nvSpPr>
        <p:spPr>
          <a:xfrm>
            <a:off x="6903720" y="3200400"/>
            <a:ext cx="1691640" cy="566928"/>
          </a:xfrm>
          <a:prstGeom prst="rect">
            <a:avLst/>
          </a:prstGeom>
          <a:solidFill>
            <a:srgbClr val="F2F3F4"/>
          </a:solidFill>
          <a:ln cap="flat" cmpd="sng" w="12700">
            <a:solidFill>
              <a:srgbClr val="B553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8"/>
          <p:cNvSpPr/>
          <p:nvPr/>
        </p:nvSpPr>
        <p:spPr>
          <a:xfrm>
            <a:off x="6995160" y="3291840"/>
            <a:ext cx="1508760" cy="38404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5533C"/>
              </a:buClr>
              <a:buSzPts val="1000"/>
              <a:buFont typeface="Courier New"/>
              <a:buNone/>
            </a:pPr>
            <a:r>
              <a:rPr b="1" i="0" lang="fr" sz="1000" u="none" cap="none" strike="noStrike">
                <a:solidFill>
                  <a:srgbClr val="B5533C"/>
                </a:solidFill>
                <a:latin typeface="Courier New"/>
                <a:ea typeface="Courier New"/>
                <a:cs typeface="Courier New"/>
                <a:sym typeface="Courier New"/>
              </a:rPr>
              <a:t>error_taxonomy</a:t>
            </a:r>
            <a:endParaRPr b="0" i="0" sz="1000" u="none" cap="none" strike="noStrike">
              <a:solidFill>
                <a:schemeClr val="dk1"/>
              </a:solidFill>
              <a:latin typeface="Calibri"/>
              <a:ea typeface="Calibri"/>
              <a:cs typeface="Calibri"/>
              <a:sym typeface="Calibri"/>
            </a:endParaRPr>
          </a:p>
        </p:txBody>
      </p:sp>
      <p:sp>
        <p:nvSpPr>
          <p:cNvPr id="139" name="Google Shape;139;p18"/>
          <p:cNvSpPr/>
          <p:nvPr/>
        </p:nvSpPr>
        <p:spPr>
          <a:xfrm>
            <a:off x="548646" y="3977650"/>
            <a:ext cx="4840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200"/>
              <a:buFont typeface="Calibri"/>
              <a:buNone/>
            </a:pPr>
            <a:r>
              <a:rPr b="0" i="1" lang="fr" sz="1200" u="none" cap="none" strike="noStrike">
                <a:solidFill>
                  <a:srgbClr val="6B7A87"/>
                </a:solidFill>
                <a:latin typeface="Calibri"/>
                <a:ea typeface="Calibri"/>
                <a:cs typeface="Calibri"/>
                <a:sym typeface="Calibri"/>
              </a:rPr>
              <a:t>Chaque échec est classé, tracé, agrégé  →  c'est le livrable d'analyse du sujet.</a:t>
            </a:r>
            <a:endParaRPr b="0" i="0" sz="1200" u="none" cap="none" strike="noStrike">
              <a:solidFill>
                <a:schemeClr val="dk1"/>
              </a:solidFill>
              <a:latin typeface="Calibri"/>
              <a:ea typeface="Calibri"/>
              <a:cs typeface="Calibri"/>
              <a:sym typeface="Calibri"/>
            </a:endParaRPr>
          </a:p>
        </p:txBody>
      </p:sp>
      <p:sp>
        <p:nvSpPr>
          <p:cNvPr id="140" name="Google Shape;140;p18"/>
          <p:cNvSpPr/>
          <p:nvPr/>
        </p:nvSpPr>
        <p:spPr>
          <a:xfrm>
            <a:off x="6309360" y="4681728"/>
            <a:ext cx="228600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Omid</a:t>
            </a:r>
            <a:endParaRPr b="0" i="0" sz="900" u="none" cap="none" strike="noStrike">
              <a:solidFill>
                <a:schemeClr val="dk1"/>
              </a:solidFill>
              <a:latin typeface="Calibri"/>
              <a:ea typeface="Calibri"/>
              <a:cs typeface="Calibri"/>
              <a:sym typeface="Calibri"/>
            </a:endParaRPr>
          </a:p>
        </p:txBody>
      </p:sp>
      <p:sp>
        <p:nvSpPr>
          <p:cNvPr id="141" name="Google Shape;141;p18"/>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146" name="Shape 146"/>
        <p:cNvGrpSpPr/>
        <p:nvPr/>
      </p:nvGrpSpPr>
      <p:grpSpPr>
        <a:xfrm>
          <a:off x="0" y="0"/>
          <a:ext cx="0" cy="0"/>
          <a:chOff x="0" y="0"/>
          <a:chExt cx="0" cy="0"/>
        </a:xfrm>
      </p:grpSpPr>
      <p:sp>
        <p:nvSpPr>
          <p:cNvPr id="147" name="Google Shape;147;p19"/>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REPRÉSENTATION INTERMÉDIAIRE</a:t>
            </a:r>
            <a:endParaRPr b="0" i="0" sz="1100" u="none" cap="none" strike="noStrike">
              <a:solidFill>
                <a:schemeClr val="dk1"/>
              </a:solidFill>
              <a:latin typeface="Calibri"/>
              <a:ea typeface="Calibri"/>
              <a:cs typeface="Calibri"/>
              <a:sym typeface="Calibri"/>
            </a:endParaRPr>
          </a:p>
        </p:txBody>
      </p:sp>
      <p:sp>
        <p:nvSpPr>
          <p:cNvPr id="148" name="Google Shape;148;p19"/>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Un seul schéma, quatre formalismes</a:t>
            </a:r>
            <a:endParaRPr b="0" i="0" sz="3000" u="none" cap="none" strike="noStrike">
              <a:solidFill>
                <a:schemeClr val="dk1"/>
              </a:solidFill>
              <a:latin typeface="Calibri"/>
              <a:ea typeface="Calibri"/>
              <a:cs typeface="Calibri"/>
              <a:sym typeface="Calibri"/>
            </a:endParaRPr>
          </a:p>
        </p:txBody>
      </p:sp>
      <p:sp>
        <p:nvSpPr>
          <p:cNvPr id="149" name="Google Shape;149;p19"/>
          <p:cNvSpPr/>
          <p:nvPr/>
        </p:nvSpPr>
        <p:spPr>
          <a:xfrm>
            <a:off x="548640" y="1325880"/>
            <a:ext cx="4114800" cy="2926080"/>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9"/>
          <p:cNvSpPr/>
          <p:nvPr/>
        </p:nvSpPr>
        <p:spPr>
          <a:xfrm>
            <a:off x="777240" y="150876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200"/>
              <a:buFont typeface="Courier New"/>
              <a:buNone/>
            </a:pPr>
            <a:r>
              <a:rPr b="1" i="0" lang="fr" sz="1200" u="none" cap="none" strike="noStrike">
                <a:solidFill>
                  <a:srgbClr val="B5533C"/>
                </a:solidFill>
                <a:latin typeface="Courier New"/>
                <a:ea typeface="Courier New"/>
                <a:cs typeface="Courier New"/>
                <a:sym typeface="Courier New"/>
              </a:rPr>
              <a:t>SymbolicModel  (Pydantic)</a:t>
            </a:r>
            <a:endParaRPr b="0" i="0" sz="1200" u="none" cap="none" strike="noStrike">
              <a:solidFill>
                <a:schemeClr val="dk1"/>
              </a:solidFill>
              <a:latin typeface="Calibri"/>
              <a:ea typeface="Calibri"/>
              <a:cs typeface="Calibri"/>
              <a:sym typeface="Calibri"/>
            </a:endParaRPr>
          </a:p>
        </p:txBody>
      </p:sp>
      <p:sp>
        <p:nvSpPr>
          <p:cNvPr id="151" name="Google Shape;151;p19"/>
          <p:cNvSpPr/>
          <p:nvPr/>
        </p:nvSpPr>
        <p:spPr>
          <a:xfrm>
            <a:off x="777240" y="1874520"/>
            <a:ext cx="3703320" cy="2194560"/>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"formalism": "smt",</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"variables": [</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{"name": "x", "type": "Int",</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"domain": [0, 100]}</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"constraints": ["And(x &gt; 0, x &lt; 40)"],</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"objective": "maximize 3*x",</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"expected_status": null</a:t>
            </a:r>
            <a:endParaRPr b="0" i="0" sz="1100" u="none" cap="none" strike="noStrike">
              <a:solidFill>
                <a:schemeClr val="dk1"/>
              </a:solidFill>
              <a:latin typeface="Calibri"/>
              <a:ea typeface="Calibri"/>
              <a:cs typeface="Calibri"/>
              <a:sym typeface="Calibri"/>
            </a:endParaRPr>
          </a:p>
          <a:p>
            <a:pPr indent="0" lvl="0" marL="0" marR="0" rtl="0" algn="l">
              <a:lnSpc>
                <a:spcPct val="145454"/>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152" name="Google Shape;152;p19"/>
          <p:cNvSpPr/>
          <p:nvPr/>
        </p:nvSpPr>
        <p:spPr>
          <a:xfrm>
            <a:off x="5029200" y="1463040"/>
            <a:ext cx="685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ourier New"/>
              <a:buNone/>
            </a:pPr>
            <a:r>
              <a:rPr b="1" i="0" lang="fr" sz="1300" u="none" cap="none" strike="noStrike">
                <a:solidFill>
                  <a:srgbClr val="B5533C"/>
                </a:solidFill>
                <a:latin typeface="Courier New"/>
                <a:ea typeface="Courier New"/>
                <a:cs typeface="Courier New"/>
                <a:sym typeface="Courier New"/>
              </a:rPr>
              <a:t>sat</a:t>
            </a:r>
            <a:endParaRPr b="0" i="0" sz="1300" u="none" cap="none" strike="noStrike">
              <a:solidFill>
                <a:schemeClr val="dk1"/>
              </a:solidFill>
              <a:latin typeface="Calibri"/>
              <a:ea typeface="Calibri"/>
              <a:cs typeface="Calibri"/>
              <a:sym typeface="Calibri"/>
            </a:endParaRPr>
          </a:p>
        </p:txBody>
      </p:sp>
      <p:sp>
        <p:nvSpPr>
          <p:cNvPr id="153" name="Google Shape;153;p19"/>
          <p:cNvSpPr/>
          <p:nvPr/>
        </p:nvSpPr>
        <p:spPr>
          <a:xfrm>
            <a:off x="5760720" y="1444752"/>
            <a:ext cx="2834640" cy="5486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Logique booléenne pure — chevaliers &amp; valets, circuits</a:t>
            </a:r>
            <a:endParaRPr b="0" i="0" sz="1100" u="none" cap="none" strike="noStrike">
              <a:solidFill>
                <a:schemeClr val="dk1"/>
              </a:solidFill>
              <a:latin typeface="Calibri"/>
              <a:ea typeface="Calibri"/>
              <a:cs typeface="Calibri"/>
              <a:sym typeface="Calibri"/>
            </a:endParaRPr>
          </a:p>
        </p:txBody>
      </p:sp>
      <p:sp>
        <p:nvSpPr>
          <p:cNvPr id="154" name="Google Shape;154;p19"/>
          <p:cNvSpPr/>
          <p:nvPr/>
        </p:nvSpPr>
        <p:spPr>
          <a:xfrm>
            <a:off x="5029200" y="2176272"/>
            <a:ext cx="685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ourier New"/>
              <a:buNone/>
            </a:pPr>
            <a:r>
              <a:rPr b="1" i="0" lang="fr" sz="1300" u="none" cap="none" strike="noStrike">
                <a:solidFill>
                  <a:srgbClr val="B5533C"/>
                </a:solidFill>
                <a:latin typeface="Courier New"/>
                <a:ea typeface="Courier New"/>
                <a:cs typeface="Courier New"/>
                <a:sym typeface="Courier New"/>
              </a:rPr>
              <a:t>smt</a:t>
            </a:r>
            <a:endParaRPr b="0" i="0" sz="1300" u="none" cap="none" strike="noStrike">
              <a:solidFill>
                <a:schemeClr val="dk1"/>
              </a:solidFill>
              <a:latin typeface="Calibri"/>
              <a:ea typeface="Calibri"/>
              <a:cs typeface="Calibri"/>
              <a:sym typeface="Calibri"/>
            </a:endParaRPr>
          </a:p>
        </p:txBody>
      </p:sp>
      <p:sp>
        <p:nvSpPr>
          <p:cNvPr id="155" name="Google Shape;155;p19"/>
          <p:cNvSpPr/>
          <p:nvPr/>
        </p:nvSpPr>
        <p:spPr>
          <a:xfrm>
            <a:off x="5760720" y="2157984"/>
            <a:ext cx="2834640" cy="5486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Arithmétique, coûts, optimisation (Z3 Optimize)</a:t>
            </a:r>
            <a:endParaRPr b="0" i="0" sz="1100" u="none" cap="none" strike="noStrike">
              <a:solidFill>
                <a:schemeClr val="dk1"/>
              </a:solidFill>
              <a:latin typeface="Calibri"/>
              <a:ea typeface="Calibri"/>
              <a:cs typeface="Calibri"/>
              <a:sym typeface="Calibri"/>
            </a:endParaRPr>
          </a:p>
        </p:txBody>
      </p:sp>
      <p:sp>
        <p:nvSpPr>
          <p:cNvPr id="156" name="Google Shape;156;p19"/>
          <p:cNvSpPr/>
          <p:nvPr/>
        </p:nvSpPr>
        <p:spPr>
          <a:xfrm>
            <a:off x="5029200" y="2889504"/>
            <a:ext cx="685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ourier New"/>
              <a:buNone/>
            </a:pPr>
            <a:r>
              <a:rPr b="1" i="0" lang="fr" sz="1300" u="none" cap="none" strike="noStrike">
                <a:solidFill>
                  <a:srgbClr val="B5533C"/>
                </a:solidFill>
                <a:latin typeface="Courier New"/>
                <a:ea typeface="Courier New"/>
                <a:cs typeface="Courier New"/>
                <a:sym typeface="Courier New"/>
              </a:rPr>
              <a:t>csp</a:t>
            </a:r>
            <a:endParaRPr b="0" i="0" sz="1300" u="none" cap="none" strike="noStrike">
              <a:solidFill>
                <a:schemeClr val="dk1"/>
              </a:solidFill>
              <a:latin typeface="Calibri"/>
              <a:ea typeface="Calibri"/>
              <a:cs typeface="Calibri"/>
              <a:sym typeface="Calibri"/>
            </a:endParaRPr>
          </a:p>
        </p:txBody>
      </p:sp>
      <p:sp>
        <p:nvSpPr>
          <p:cNvPr id="157" name="Google Shape;157;p19"/>
          <p:cNvSpPr/>
          <p:nvPr/>
        </p:nvSpPr>
        <p:spPr>
          <a:xfrm>
            <a:off x="5760720" y="2871216"/>
            <a:ext cx="2834640" cy="5486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Énigmes à attributs — Einstein, Sudoku, domaines bornés</a:t>
            </a:r>
            <a:endParaRPr b="0" i="0" sz="1100" u="none" cap="none" strike="noStrike">
              <a:solidFill>
                <a:schemeClr val="dk1"/>
              </a:solidFill>
              <a:latin typeface="Calibri"/>
              <a:ea typeface="Calibri"/>
              <a:cs typeface="Calibri"/>
              <a:sym typeface="Calibri"/>
            </a:endParaRPr>
          </a:p>
        </p:txBody>
      </p:sp>
      <p:sp>
        <p:nvSpPr>
          <p:cNvPr id="158" name="Google Shape;158;p19"/>
          <p:cNvSpPr/>
          <p:nvPr/>
        </p:nvSpPr>
        <p:spPr>
          <a:xfrm>
            <a:off x="5029200" y="3602736"/>
            <a:ext cx="685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ourier New"/>
              <a:buNone/>
            </a:pPr>
            <a:r>
              <a:rPr b="1" i="0" lang="fr" sz="1300" u="none" cap="none" strike="noStrike">
                <a:solidFill>
                  <a:srgbClr val="B5533C"/>
                </a:solidFill>
                <a:latin typeface="Courier New"/>
                <a:ea typeface="Courier New"/>
                <a:cs typeface="Courier New"/>
                <a:sym typeface="Courier New"/>
              </a:rPr>
              <a:t>pddl</a:t>
            </a:r>
            <a:endParaRPr b="0" i="0" sz="1300" u="none" cap="none" strike="noStrike">
              <a:solidFill>
                <a:schemeClr val="dk1"/>
              </a:solidFill>
              <a:latin typeface="Calibri"/>
              <a:ea typeface="Calibri"/>
              <a:cs typeface="Calibri"/>
              <a:sym typeface="Calibri"/>
            </a:endParaRPr>
          </a:p>
        </p:txBody>
      </p:sp>
      <p:sp>
        <p:nvSpPr>
          <p:cNvPr id="159" name="Google Shape;159;p19"/>
          <p:cNvSpPr/>
          <p:nvPr/>
        </p:nvSpPr>
        <p:spPr>
          <a:xfrm>
            <a:off x="5760720" y="3584448"/>
            <a:ext cx="2834640" cy="5486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Planification : état initial, actions, but</a:t>
            </a:r>
            <a:endParaRPr b="0" i="0" sz="1100" u="none" cap="none" strike="noStrike">
              <a:solidFill>
                <a:schemeClr val="dk1"/>
              </a:solidFill>
              <a:latin typeface="Calibri"/>
              <a:ea typeface="Calibri"/>
              <a:cs typeface="Calibri"/>
              <a:sym typeface="Calibri"/>
            </a:endParaRPr>
          </a:p>
        </p:txBody>
      </p:sp>
      <p:sp>
        <p:nvSpPr>
          <p:cNvPr id="160" name="Google Shape;160;p19"/>
          <p:cNvSpPr/>
          <p:nvPr/>
        </p:nvSpPr>
        <p:spPr>
          <a:xfrm>
            <a:off x="4979000" y="4069070"/>
            <a:ext cx="3566100" cy="5487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6B7A87"/>
              </a:buClr>
              <a:buSzPts val="1100"/>
              <a:buFont typeface="Calibri"/>
              <a:buNone/>
            </a:pPr>
            <a:r>
              <a:rPr b="0" i="1" lang="fr" sz="1100" u="none" cap="none" strike="noStrike">
                <a:solidFill>
                  <a:srgbClr val="6B7A87"/>
                </a:solidFill>
                <a:latin typeface="Calibri"/>
                <a:ea typeface="Calibri"/>
                <a:cs typeface="Calibri"/>
                <a:sym typeface="Calibri"/>
              </a:rPr>
              <a:t>Pydantic rejette d'emblée tout JSON non conforme : c'est la première barrière contre l'hallucination structurelle.</a:t>
            </a:r>
            <a:endParaRPr b="0" i="0" sz="1100" u="none" cap="none" strike="noStrike">
              <a:solidFill>
                <a:schemeClr val="dk1"/>
              </a:solidFill>
              <a:latin typeface="Calibri"/>
              <a:ea typeface="Calibri"/>
              <a:cs typeface="Calibri"/>
              <a:sym typeface="Calibri"/>
            </a:endParaRPr>
          </a:p>
        </p:txBody>
      </p:sp>
      <p:sp>
        <p:nvSpPr>
          <p:cNvPr id="161" name="Google Shape;161;p19"/>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166" name="Shape 166"/>
        <p:cNvGrpSpPr/>
        <p:nvPr/>
      </p:nvGrpSpPr>
      <p:grpSpPr>
        <a:xfrm>
          <a:off x="0" y="0"/>
          <a:ext cx="0" cy="0"/>
          <a:chOff x="0" y="0"/>
          <a:chExt cx="0" cy="0"/>
        </a:xfrm>
      </p:grpSpPr>
      <p:sp>
        <p:nvSpPr>
          <p:cNvPr id="167" name="Google Shape;167;p20"/>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VALIDATION</a:t>
            </a:r>
            <a:endParaRPr b="0" i="0" sz="1100" u="none" cap="none" strike="noStrike">
              <a:solidFill>
                <a:schemeClr val="dk1"/>
              </a:solidFill>
              <a:latin typeface="Calibri"/>
              <a:ea typeface="Calibri"/>
              <a:cs typeface="Calibri"/>
              <a:sym typeface="Calibri"/>
            </a:endParaRPr>
          </a:p>
        </p:txBody>
      </p:sp>
      <p:sp>
        <p:nvSpPr>
          <p:cNvPr id="168" name="Google Shape;168;p20"/>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Trois passes avant de toucher au solveur</a:t>
            </a:r>
            <a:endParaRPr b="0" i="0" sz="3000" u="none" cap="none" strike="noStrike">
              <a:solidFill>
                <a:schemeClr val="dk1"/>
              </a:solidFill>
              <a:latin typeface="Calibri"/>
              <a:ea typeface="Calibri"/>
              <a:cs typeface="Calibri"/>
              <a:sym typeface="Calibri"/>
            </a:endParaRPr>
          </a:p>
        </p:txBody>
      </p:sp>
      <p:sp>
        <p:nvSpPr>
          <p:cNvPr id="169" name="Google Shape;169;p20"/>
          <p:cNvSpPr/>
          <p:nvPr/>
        </p:nvSpPr>
        <p:spPr>
          <a:xfrm>
            <a:off x="548640" y="1298448"/>
            <a:ext cx="8046720" cy="9144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0"/>
          <p:cNvSpPr/>
          <p:nvPr/>
        </p:nvSpPr>
        <p:spPr>
          <a:xfrm>
            <a:off x="777240" y="1426464"/>
            <a:ext cx="2194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400"/>
              <a:buFont typeface="Calibri"/>
              <a:buNone/>
            </a:pPr>
            <a:r>
              <a:rPr b="1" i="0" lang="fr" sz="1400" u="none" cap="none" strike="noStrike">
                <a:solidFill>
                  <a:srgbClr val="22303C"/>
                </a:solidFill>
                <a:latin typeface="Calibri"/>
                <a:ea typeface="Calibri"/>
                <a:cs typeface="Calibri"/>
                <a:sym typeface="Calibri"/>
              </a:rPr>
              <a:t>Passe 1 — AST</a:t>
            </a:r>
            <a:endParaRPr b="0" i="0" sz="1400" u="none" cap="none" strike="noStrike">
              <a:solidFill>
                <a:schemeClr val="dk1"/>
              </a:solidFill>
              <a:latin typeface="Calibri"/>
              <a:ea typeface="Calibri"/>
              <a:cs typeface="Calibri"/>
              <a:sym typeface="Calibri"/>
            </a:endParaRPr>
          </a:p>
        </p:txBody>
      </p:sp>
      <p:sp>
        <p:nvSpPr>
          <p:cNvPr id="171" name="Google Shape;171;p20"/>
          <p:cNvSpPr/>
          <p:nvPr/>
        </p:nvSpPr>
        <p:spPr>
          <a:xfrm>
            <a:off x="777240" y="1737360"/>
            <a:ext cx="512064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ast.parse sur chaque contrainte, puis collecte des identifiants utilisés.</a:t>
            </a:r>
            <a:endParaRPr b="0" i="0" sz="1100" u="none" cap="none" strike="noStrike">
              <a:solidFill>
                <a:schemeClr val="dk1"/>
              </a:solidFill>
              <a:latin typeface="Calibri"/>
              <a:ea typeface="Calibri"/>
              <a:cs typeface="Calibri"/>
              <a:sym typeface="Calibri"/>
            </a:endParaRPr>
          </a:p>
        </p:txBody>
      </p:sp>
      <p:sp>
        <p:nvSpPr>
          <p:cNvPr id="172" name="Google Shape;172;p20"/>
          <p:cNvSpPr/>
          <p:nvPr/>
        </p:nvSpPr>
        <p:spPr>
          <a:xfrm>
            <a:off x="6309360" y="1481328"/>
            <a:ext cx="2103120" cy="54864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B5533C"/>
              </a:buClr>
              <a:buSzPts val="1000"/>
              <a:buFont typeface="Courier New"/>
              <a:buNone/>
            </a:pPr>
            <a:r>
              <a:rPr b="1" i="0" lang="fr" sz="1000" u="none" cap="none" strike="noStrike">
                <a:solidFill>
                  <a:srgbClr val="B5533C"/>
                </a:solidFill>
                <a:latin typeface="Courier New"/>
                <a:ea typeface="Courier New"/>
                <a:cs typeface="Courier New"/>
                <a:sym typeface="Courier New"/>
              </a:rPr>
              <a:t>SYNTAX_ERROR</a:t>
            </a:r>
            <a:endParaRPr b="0" i="0" sz="1000" u="none" cap="none" strike="noStrike">
              <a:solidFill>
                <a:schemeClr val="dk1"/>
              </a:solidFill>
              <a:latin typeface="Calibri"/>
              <a:ea typeface="Calibri"/>
              <a:cs typeface="Calibri"/>
              <a:sym typeface="Calibri"/>
            </a:endParaRPr>
          </a:p>
          <a:p>
            <a:pPr indent="0" lvl="0" marL="0" marR="0" rtl="0" algn="r">
              <a:lnSpc>
                <a:spcPct val="140000"/>
              </a:lnSpc>
              <a:spcBef>
                <a:spcPts val="0"/>
              </a:spcBef>
              <a:spcAft>
                <a:spcPts val="0"/>
              </a:spcAft>
              <a:buClr>
                <a:srgbClr val="B5533C"/>
              </a:buClr>
              <a:buSzPts val="1000"/>
              <a:buFont typeface="Courier New"/>
              <a:buNone/>
            </a:pPr>
            <a:r>
              <a:rPr b="1" i="0" lang="fr" sz="1000" u="none" cap="none" strike="noStrike">
                <a:solidFill>
                  <a:srgbClr val="B5533C"/>
                </a:solidFill>
                <a:latin typeface="Courier New"/>
                <a:ea typeface="Courier New"/>
                <a:cs typeface="Courier New"/>
                <a:sym typeface="Courier New"/>
              </a:rPr>
              <a:t>MISSING_VARIABLE</a:t>
            </a:r>
            <a:endParaRPr b="0" i="0" sz="1000" u="none" cap="none" strike="noStrike">
              <a:solidFill>
                <a:schemeClr val="dk1"/>
              </a:solidFill>
              <a:latin typeface="Calibri"/>
              <a:ea typeface="Calibri"/>
              <a:cs typeface="Calibri"/>
              <a:sym typeface="Calibri"/>
            </a:endParaRPr>
          </a:p>
        </p:txBody>
      </p:sp>
      <p:sp>
        <p:nvSpPr>
          <p:cNvPr id="173" name="Google Shape;173;p20"/>
          <p:cNvSpPr/>
          <p:nvPr/>
        </p:nvSpPr>
        <p:spPr>
          <a:xfrm>
            <a:off x="548640" y="2322576"/>
            <a:ext cx="8046720" cy="9144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20"/>
          <p:cNvSpPr/>
          <p:nvPr/>
        </p:nvSpPr>
        <p:spPr>
          <a:xfrm>
            <a:off x="777240" y="2450592"/>
            <a:ext cx="2194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400"/>
              <a:buFont typeface="Calibri"/>
              <a:buNone/>
            </a:pPr>
            <a:r>
              <a:rPr b="1" i="0" lang="fr" sz="1400" u="none" cap="none" strike="noStrike">
                <a:solidFill>
                  <a:srgbClr val="22303C"/>
                </a:solidFill>
                <a:latin typeface="Calibri"/>
                <a:ea typeface="Calibri"/>
                <a:cs typeface="Calibri"/>
                <a:sym typeface="Calibri"/>
              </a:rPr>
              <a:t>Passe 2 — Compilation</a:t>
            </a:r>
            <a:endParaRPr b="0" i="0" sz="1400" u="none" cap="none" strike="noStrike">
              <a:solidFill>
                <a:schemeClr val="dk1"/>
              </a:solidFill>
              <a:latin typeface="Calibri"/>
              <a:ea typeface="Calibri"/>
              <a:cs typeface="Calibri"/>
              <a:sym typeface="Calibri"/>
            </a:endParaRPr>
          </a:p>
        </p:txBody>
      </p:sp>
      <p:sp>
        <p:nvSpPr>
          <p:cNvPr id="175" name="Google Shape;175;p20"/>
          <p:cNvSpPr/>
          <p:nvPr/>
        </p:nvSpPr>
        <p:spPr>
          <a:xfrm>
            <a:off x="777240" y="2761488"/>
            <a:ext cx="512064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eval dans un namespace verrouillé : uniquement And, Or, Not, Implies, Sum, Distinct…</a:t>
            </a:r>
            <a:endParaRPr b="0" i="0" sz="1100" u="none" cap="none" strike="noStrike">
              <a:solidFill>
                <a:schemeClr val="dk1"/>
              </a:solidFill>
              <a:latin typeface="Calibri"/>
              <a:ea typeface="Calibri"/>
              <a:cs typeface="Calibri"/>
              <a:sym typeface="Calibri"/>
            </a:endParaRPr>
          </a:p>
        </p:txBody>
      </p:sp>
      <p:sp>
        <p:nvSpPr>
          <p:cNvPr id="176" name="Google Shape;176;p20"/>
          <p:cNvSpPr/>
          <p:nvPr/>
        </p:nvSpPr>
        <p:spPr>
          <a:xfrm>
            <a:off x="6309360" y="2505456"/>
            <a:ext cx="2103120" cy="54864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B5533C"/>
              </a:buClr>
              <a:buSzPts val="1000"/>
              <a:buFont typeface="Courier New"/>
              <a:buNone/>
            </a:pPr>
            <a:r>
              <a:rPr b="1" i="0" lang="fr" sz="1000" u="none" cap="none" strike="noStrike">
                <a:solidFill>
                  <a:srgbClr val="B5533C"/>
                </a:solidFill>
                <a:latin typeface="Courier New"/>
                <a:ea typeface="Courier New"/>
                <a:cs typeface="Courier New"/>
                <a:sym typeface="Courier New"/>
              </a:rPr>
              <a:t>SYNTAX_ERROR</a:t>
            </a:r>
            <a:endParaRPr b="0" i="0" sz="1000" u="none" cap="none" strike="noStrike">
              <a:solidFill>
                <a:schemeClr val="dk1"/>
              </a:solidFill>
              <a:latin typeface="Calibri"/>
              <a:ea typeface="Calibri"/>
              <a:cs typeface="Calibri"/>
              <a:sym typeface="Calibri"/>
            </a:endParaRPr>
          </a:p>
        </p:txBody>
      </p:sp>
      <p:sp>
        <p:nvSpPr>
          <p:cNvPr id="177" name="Google Shape;177;p20"/>
          <p:cNvSpPr/>
          <p:nvPr/>
        </p:nvSpPr>
        <p:spPr>
          <a:xfrm>
            <a:off x="548640" y="3346704"/>
            <a:ext cx="8046720" cy="91440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0"/>
          <p:cNvSpPr/>
          <p:nvPr/>
        </p:nvSpPr>
        <p:spPr>
          <a:xfrm>
            <a:off x="777240" y="3474720"/>
            <a:ext cx="2194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400"/>
              <a:buFont typeface="Calibri"/>
              <a:buNone/>
            </a:pPr>
            <a:r>
              <a:rPr b="1" i="0" lang="fr" sz="1400" u="none" cap="none" strike="noStrike">
                <a:solidFill>
                  <a:srgbClr val="22303C"/>
                </a:solidFill>
                <a:latin typeface="Calibri"/>
                <a:ea typeface="Calibri"/>
                <a:cs typeface="Calibri"/>
                <a:sym typeface="Calibri"/>
              </a:rPr>
              <a:t>Passe 3 — Typage</a:t>
            </a:r>
            <a:endParaRPr b="0" i="0" sz="1400" u="none" cap="none" strike="noStrike">
              <a:solidFill>
                <a:schemeClr val="dk1"/>
              </a:solidFill>
              <a:latin typeface="Calibri"/>
              <a:ea typeface="Calibri"/>
              <a:cs typeface="Calibri"/>
              <a:sym typeface="Calibri"/>
            </a:endParaRPr>
          </a:p>
        </p:txBody>
      </p:sp>
      <p:sp>
        <p:nvSpPr>
          <p:cNvPr id="179" name="Google Shape;179;p20"/>
          <p:cNvSpPr/>
          <p:nvPr/>
        </p:nvSpPr>
        <p:spPr>
          <a:xfrm>
            <a:off x="777240" y="3785616"/>
            <a:ext cx="512064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z3.is_bool(expr) : une contrainte qui n'est pas booléenne n'est pas une contrainte.</a:t>
            </a:r>
            <a:endParaRPr b="0" i="0" sz="1100" u="none" cap="none" strike="noStrike">
              <a:solidFill>
                <a:schemeClr val="dk1"/>
              </a:solidFill>
              <a:latin typeface="Calibri"/>
              <a:ea typeface="Calibri"/>
              <a:cs typeface="Calibri"/>
              <a:sym typeface="Calibri"/>
            </a:endParaRPr>
          </a:p>
        </p:txBody>
      </p:sp>
      <p:sp>
        <p:nvSpPr>
          <p:cNvPr id="180" name="Google Shape;180;p20"/>
          <p:cNvSpPr/>
          <p:nvPr/>
        </p:nvSpPr>
        <p:spPr>
          <a:xfrm>
            <a:off x="6309360" y="3529584"/>
            <a:ext cx="2103120" cy="54864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Clr>
                <a:srgbClr val="B5533C"/>
              </a:buClr>
              <a:buSzPts val="1000"/>
              <a:buFont typeface="Courier New"/>
              <a:buNone/>
            </a:pPr>
            <a:r>
              <a:rPr b="1" i="0" lang="fr" sz="1000" u="none" cap="none" strike="noStrike">
                <a:solidFill>
                  <a:srgbClr val="B5533C"/>
                </a:solidFill>
                <a:latin typeface="Courier New"/>
                <a:ea typeface="Courier New"/>
                <a:cs typeface="Courier New"/>
                <a:sym typeface="Courier New"/>
              </a:rPr>
              <a:t>TYPE_MISMATCH</a:t>
            </a:r>
            <a:endParaRPr b="0" i="0" sz="1000" u="none" cap="none" strike="noStrike">
              <a:solidFill>
                <a:schemeClr val="dk1"/>
              </a:solidFill>
              <a:latin typeface="Calibri"/>
              <a:ea typeface="Calibri"/>
              <a:cs typeface="Calibri"/>
              <a:sym typeface="Calibri"/>
            </a:endParaRPr>
          </a:p>
        </p:txBody>
      </p:sp>
      <p:sp>
        <p:nvSpPr>
          <p:cNvPr id="181" name="Google Shape;181;p20"/>
          <p:cNvSpPr/>
          <p:nvPr/>
        </p:nvSpPr>
        <p:spPr>
          <a:xfrm>
            <a:off x="548640" y="4434840"/>
            <a:ext cx="8046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1" lang="fr" sz="1100" u="none" cap="none" strike="noStrike">
                <a:solidFill>
                  <a:srgbClr val="22303C"/>
                </a:solidFill>
                <a:latin typeface="Calibri"/>
                <a:ea typeface="Calibri"/>
                <a:cs typeface="Calibri"/>
                <a:sym typeface="Calibri"/>
              </a:rPr>
              <a:t>Les helpers de validation (build_z3_vars, compile_constraint) sont réutilisés tels quels par le solveur : la sémantique validée EST la sémantique résolue.</a:t>
            </a:r>
            <a:endParaRPr b="0" i="0" sz="1100" u="none" cap="none" strike="noStrike">
              <a:solidFill>
                <a:schemeClr val="dk1"/>
              </a:solidFill>
              <a:latin typeface="Calibri"/>
              <a:ea typeface="Calibri"/>
              <a:cs typeface="Calibri"/>
              <a:sym typeface="Calibri"/>
            </a:endParaRPr>
          </a:p>
        </p:txBody>
      </p:sp>
      <p:sp>
        <p:nvSpPr>
          <p:cNvPr id="182" name="Google Shape;182;p20"/>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187" name="Shape 187"/>
        <p:cNvGrpSpPr/>
        <p:nvPr/>
      </p:nvGrpSpPr>
      <p:grpSpPr>
        <a:xfrm>
          <a:off x="0" y="0"/>
          <a:ext cx="0" cy="0"/>
          <a:chOff x="0" y="0"/>
          <a:chExt cx="0" cy="0"/>
        </a:xfrm>
      </p:grpSpPr>
      <p:sp>
        <p:nvSpPr>
          <p:cNvPr id="188" name="Google Shape;188;p21"/>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CORRECTION</a:t>
            </a:r>
            <a:endParaRPr b="0" i="0" sz="1100" u="none" cap="none" strike="noStrike">
              <a:solidFill>
                <a:schemeClr val="dk1"/>
              </a:solidFill>
              <a:latin typeface="Calibri"/>
              <a:ea typeface="Calibri"/>
              <a:cs typeface="Calibri"/>
              <a:sym typeface="Calibri"/>
            </a:endParaRPr>
          </a:p>
        </p:txBody>
      </p:sp>
      <p:sp>
        <p:nvSpPr>
          <p:cNvPr id="189" name="Google Shape;189;p21"/>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L'erreur est une information, pas un échec</a:t>
            </a:r>
            <a:endParaRPr b="0" i="0" sz="3000" u="none" cap="none" strike="noStrike">
              <a:solidFill>
                <a:schemeClr val="dk1"/>
              </a:solidFill>
              <a:latin typeface="Calibri"/>
              <a:ea typeface="Calibri"/>
              <a:cs typeface="Calibri"/>
              <a:sym typeface="Calibri"/>
            </a:endParaRPr>
          </a:p>
        </p:txBody>
      </p:sp>
      <p:sp>
        <p:nvSpPr>
          <p:cNvPr id="190" name="Google Shape;190;p21"/>
          <p:cNvSpPr/>
          <p:nvPr/>
        </p:nvSpPr>
        <p:spPr>
          <a:xfrm>
            <a:off x="548640" y="1188720"/>
            <a:ext cx="4709160" cy="77724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22303C"/>
              </a:buClr>
              <a:buSzPts val="1400"/>
              <a:buFont typeface="Calibri"/>
              <a:buNone/>
            </a:pPr>
            <a:r>
              <a:rPr b="0" i="0" lang="fr" sz="1400" u="none" cap="none" strike="noStrike">
                <a:solidFill>
                  <a:srgbClr val="22303C"/>
                </a:solidFill>
                <a:latin typeface="Calibri"/>
                <a:ea typeface="Calibri"/>
                <a:cs typeface="Calibri"/>
                <a:sym typeface="Calibri"/>
              </a:rPr>
              <a:t>Quand la validation échoue, on ne jette pas la réponse : on renvoie le message d'erreur exact au LLM et on relance la traduction (jusqu'à 5 tentatives).</a:t>
            </a:r>
            <a:endParaRPr b="0" i="0" sz="1400" u="none" cap="none" strike="noStrike">
              <a:solidFill>
                <a:schemeClr val="dk1"/>
              </a:solidFill>
              <a:latin typeface="Calibri"/>
              <a:ea typeface="Calibri"/>
              <a:cs typeface="Calibri"/>
              <a:sym typeface="Calibri"/>
            </a:endParaRPr>
          </a:p>
        </p:txBody>
      </p:sp>
      <p:sp>
        <p:nvSpPr>
          <p:cNvPr id="191" name="Google Shape;191;p21"/>
          <p:cNvSpPr/>
          <p:nvPr/>
        </p:nvSpPr>
        <p:spPr>
          <a:xfrm>
            <a:off x="548640" y="2103120"/>
            <a:ext cx="4709160" cy="2103120"/>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1"/>
          <p:cNvSpPr/>
          <p:nvPr/>
        </p:nvSpPr>
        <p:spPr>
          <a:xfrm>
            <a:off x="777240" y="2286000"/>
            <a:ext cx="4206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Exemple de feedback réinjecté</a:t>
            </a:r>
            <a:endParaRPr b="0" i="0" sz="1100" u="none" cap="none" strike="noStrike">
              <a:solidFill>
                <a:schemeClr val="dk1"/>
              </a:solidFill>
              <a:latin typeface="Calibri"/>
              <a:ea typeface="Calibri"/>
              <a:cs typeface="Calibri"/>
              <a:sym typeface="Calibri"/>
            </a:endParaRPr>
          </a:p>
        </p:txBody>
      </p:sp>
      <p:sp>
        <p:nvSpPr>
          <p:cNvPr id="193" name="Google Shape;193;p21"/>
          <p:cNvSpPr/>
          <p:nvPr/>
        </p:nvSpPr>
        <p:spPr>
          <a:xfrm>
            <a:off x="777240" y="2651760"/>
            <a:ext cx="4251960" cy="914400"/>
          </a:xfrm>
          <a:prstGeom prst="rect">
            <a:avLst/>
          </a:prstGeom>
          <a:noFill/>
          <a:ln>
            <a:noFill/>
          </a:ln>
        </p:spPr>
        <p:txBody>
          <a:bodyPr anchorCtr="0" anchor="ctr" bIns="0" lIns="0" spcFirstLastPara="1" rIns="0" wrap="square" tIns="0">
            <a:noAutofit/>
          </a:bodyPr>
          <a:lstStyle/>
          <a:p>
            <a:pPr indent="0" lvl="0" marL="0" marR="0" rtl="0" algn="l">
              <a:lnSpc>
                <a:spcPct val="154545"/>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"Le modèle est invalide (missing_variable) :</a:t>
            </a:r>
            <a:endParaRPr b="0" i="0" sz="1100" u="none" cap="none" strike="noStrike">
              <a:solidFill>
                <a:schemeClr val="dk1"/>
              </a:solidFill>
              <a:latin typeface="Calibri"/>
              <a:ea typeface="Calibri"/>
              <a:cs typeface="Calibri"/>
              <a:sym typeface="Calibri"/>
            </a:endParaRPr>
          </a:p>
          <a:p>
            <a:pPr indent="0" lvl="0" marL="0" marR="0" rtl="0" algn="l">
              <a:lnSpc>
                <a:spcPct val="154545"/>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la variable 'z' utilisée dans 'x + z == 10'</a:t>
            </a:r>
            <a:endParaRPr b="0" i="0" sz="1100" u="none" cap="none" strike="noStrike">
              <a:solidFill>
                <a:schemeClr val="dk1"/>
              </a:solidFill>
              <a:latin typeface="Calibri"/>
              <a:ea typeface="Calibri"/>
              <a:cs typeface="Calibri"/>
              <a:sym typeface="Calibri"/>
            </a:endParaRPr>
          </a:p>
          <a:p>
            <a:pPr indent="0" lvl="0" marL="0" marR="0" rtl="0" algn="l">
              <a:lnSpc>
                <a:spcPct val="154545"/>
              </a:lnSpc>
              <a:spcBef>
                <a:spcPts val="0"/>
              </a:spcBef>
              <a:spcAft>
                <a:spcPts val="0"/>
              </a:spcAft>
              <a:buClr>
                <a:srgbClr val="FFFFFF"/>
              </a:buClr>
              <a:buSzPts val="1100"/>
              <a:buFont typeface="Courier New"/>
              <a:buNone/>
            </a:pPr>
            <a:r>
              <a:rPr b="0" i="0" lang="fr" sz="1100" u="none" cap="none" strike="noStrike">
                <a:solidFill>
                  <a:srgbClr val="FFFFFF"/>
                </a:solidFill>
                <a:latin typeface="Courier New"/>
                <a:ea typeface="Courier New"/>
                <a:cs typeface="Courier New"/>
                <a:sym typeface="Courier New"/>
              </a:rPr>
              <a:t> n'est pas déclarée"</a:t>
            </a:r>
            <a:endParaRPr b="0" i="0" sz="1100" u="none" cap="none" strike="noStrike">
              <a:solidFill>
                <a:schemeClr val="dk1"/>
              </a:solidFill>
              <a:latin typeface="Calibri"/>
              <a:ea typeface="Calibri"/>
              <a:cs typeface="Calibri"/>
              <a:sym typeface="Calibri"/>
            </a:endParaRPr>
          </a:p>
        </p:txBody>
      </p:sp>
      <p:sp>
        <p:nvSpPr>
          <p:cNvPr id="194" name="Google Shape;194;p21"/>
          <p:cNvSpPr/>
          <p:nvPr/>
        </p:nvSpPr>
        <p:spPr>
          <a:xfrm>
            <a:off x="777240" y="3703320"/>
            <a:ext cx="4251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BC"/>
              </a:buClr>
              <a:buSzPts val="1100"/>
              <a:buFont typeface="Calibri"/>
              <a:buNone/>
            </a:pPr>
            <a:r>
              <a:rPr b="0" i="1" lang="fr" sz="1100" u="none" cap="none" strike="noStrike">
                <a:solidFill>
                  <a:srgbClr val="9FB0BC"/>
                </a:solidFill>
                <a:latin typeface="Calibri"/>
                <a:ea typeface="Calibri"/>
                <a:cs typeface="Calibri"/>
                <a:sym typeface="Calibri"/>
              </a:rPr>
              <a:t>Le LLM ne devine pas ce qui a cassé : on le lui dit.</a:t>
            </a:r>
            <a:endParaRPr b="0" i="0" sz="1100" u="none" cap="none" strike="noStrike">
              <a:solidFill>
                <a:schemeClr val="dk1"/>
              </a:solidFill>
              <a:latin typeface="Calibri"/>
              <a:ea typeface="Calibri"/>
              <a:cs typeface="Calibri"/>
              <a:sym typeface="Calibri"/>
            </a:endParaRPr>
          </a:p>
        </p:txBody>
      </p:sp>
      <p:sp>
        <p:nvSpPr>
          <p:cNvPr id="195" name="Google Shape;195;p21"/>
          <p:cNvSpPr/>
          <p:nvPr/>
        </p:nvSpPr>
        <p:spPr>
          <a:xfrm>
            <a:off x="5623560" y="1188720"/>
            <a:ext cx="2971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300"/>
              <a:buFont typeface="Calibri"/>
              <a:buNone/>
            </a:pPr>
            <a:r>
              <a:rPr b="1" i="0" lang="fr" sz="1300" u="none" cap="none" strike="noStrike">
                <a:solidFill>
                  <a:srgbClr val="22303C"/>
                </a:solidFill>
                <a:latin typeface="Calibri"/>
                <a:ea typeface="Calibri"/>
                <a:cs typeface="Calibri"/>
                <a:sym typeface="Calibri"/>
              </a:rPr>
              <a:t>7 catégories d'erreur tracées</a:t>
            </a:r>
            <a:endParaRPr b="0" i="0" sz="1300" u="none" cap="none" strike="noStrike">
              <a:solidFill>
                <a:schemeClr val="dk1"/>
              </a:solidFill>
              <a:latin typeface="Calibri"/>
              <a:ea typeface="Calibri"/>
              <a:cs typeface="Calibri"/>
              <a:sym typeface="Calibri"/>
            </a:endParaRPr>
          </a:p>
        </p:txBody>
      </p:sp>
      <p:sp>
        <p:nvSpPr>
          <p:cNvPr id="196" name="Google Shape;196;p21"/>
          <p:cNvSpPr/>
          <p:nvPr/>
        </p:nvSpPr>
        <p:spPr>
          <a:xfrm>
            <a:off x="5623560" y="1682496"/>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1"/>
          <p:cNvSpPr/>
          <p:nvPr/>
        </p:nvSpPr>
        <p:spPr>
          <a:xfrm>
            <a:off x="5852160" y="1600200"/>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llm_malformed_json</a:t>
            </a:r>
            <a:endParaRPr b="0" i="0" sz="1000" u="none" cap="none" strike="noStrike">
              <a:solidFill>
                <a:schemeClr val="dk1"/>
              </a:solidFill>
              <a:latin typeface="Calibri"/>
              <a:ea typeface="Calibri"/>
              <a:cs typeface="Calibri"/>
              <a:sym typeface="Calibri"/>
            </a:endParaRPr>
          </a:p>
        </p:txBody>
      </p:sp>
      <p:sp>
        <p:nvSpPr>
          <p:cNvPr id="198" name="Google Shape;198;p21"/>
          <p:cNvSpPr/>
          <p:nvPr/>
        </p:nvSpPr>
        <p:spPr>
          <a:xfrm>
            <a:off x="5623560" y="2011680"/>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1"/>
          <p:cNvSpPr/>
          <p:nvPr/>
        </p:nvSpPr>
        <p:spPr>
          <a:xfrm>
            <a:off x="5852160" y="1929384"/>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llm_response_error</a:t>
            </a:r>
            <a:endParaRPr b="0" i="0" sz="1000" u="none" cap="none" strike="noStrike">
              <a:solidFill>
                <a:schemeClr val="dk1"/>
              </a:solidFill>
              <a:latin typeface="Calibri"/>
              <a:ea typeface="Calibri"/>
              <a:cs typeface="Calibri"/>
              <a:sym typeface="Calibri"/>
            </a:endParaRPr>
          </a:p>
        </p:txBody>
      </p:sp>
      <p:sp>
        <p:nvSpPr>
          <p:cNvPr id="200" name="Google Shape;200;p21"/>
          <p:cNvSpPr/>
          <p:nvPr/>
        </p:nvSpPr>
        <p:spPr>
          <a:xfrm>
            <a:off x="5623560" y="2340864"/>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1"/>
          <p:cNvSpPr/>
          <p:nvPr/>
        </p:nvSpPr>
        <p:spPr>
          <a:xfrm>
            <a:off x="5852160" y="2258568"/>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missing_variable</a:t>
            </a:r>
            <a:endParaRPr b="0" i="0" sz="1000" u="none" cap="none" strike="noStrike">
              <a:solidFill>
                <a:schemeClr val="dk1"/>
              </a:solidFill>
              <a:latin typeface="Calibri"/>
              <a:ea typeface="Calibri"/>
              <a:cs typeface="Calibri"/>
              <a:sym typeface="Calibri"/>
            </a:endParaRPr>
          </a:p>
        </p:txBody>
      </p:sp>
      <p:sp>
        <p:nvSpPr>
          <p:cNvPr id="202" name="Google Shape;202;p21"/>
          <p:cNvSpPr/>
          <p:nvPr/>
        </p:nvSpPr>
        <p:spPr>
          <a:xfrm>
            <a:off x="5623560" y="2670048"/>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1"/>
          <p:cNvSpPr/>
          <p:nvPr/>
        </p:nvSpPr>
        <p:spPr>
          <a:xfrm>
            <a:off x="5852160" y="2587752"/>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syntax_error</a:t>
            </a:r>
            <a:endParaRPr b="0" i="0" sz="1000" u="none" cap="none" strike="noStrike">
              <a:solidFill>
                <a:schemeClr val="dk1"/>
              </a:solidFill>
              <a:latin typeface="Calibri"/>
              <a:ea typeface="Calibri"/>
              <a:cs typeface="Calibri"/>
              <a:sym typeface="Calibri"/>
            </a:endParaRPr>
          </a:p>
        </p:txBody>
      </p:sp>
      <p:sp>
        <p:nvSpPr>
          <p:cNvPr id="204" name="Google Shape;204;p21"/>
          <p:cNvSpPr/>
          <p:nvPr/>
        </p:nvSpPr>
        <p:spPr>
          <a:xfrm>
            <a:off x="5623560" y="2999232"/>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1"/>
          <p:cNvSpPr/>
          <p:nvPr/>
        </p:nvSpPr>
        <p:spPr>
          <a:xfrm>
            <a:off x="5852160" y="2916936"/>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type_mismatch</a:t>
            </a:r>
            <a:endParaRPr b="0" i="0" sz="1000" u="none" cap="none" strike="noStrike">
              <a:solidFill>
                <a:schemeClr val="dk1"/>
              </a:solidFill>
              <a:latin typeface="Calibri"/>
              <a:ea typeface="Calibri"/>
              <a:cs typeface="Calibri"/>
              <a:sym typeface="Calibri"/>
            </a:endParaRPr>
          </a:p>
        </p:txBody>
      </p:sp>
      <p:sp>
        <p:nvSpPr>
          <p:cNvPr id="206" name="Google Shape;206;p21"/>
          <p:cNvSpPr/>
          <p:nvPr/>
        </p:nvSpPr>
        <p:spPr>
          <a:xfrm>
            <a:off x="5623560" y="3328416"/>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1"/>
          <p:cNvSpPr/>
          <p:nvPr/>
        </p:nvSpPr>
        <p:spPr>
          <a:xfrm>
            <a:off x="5852160" y="3246120"/>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trivially_unsat</a:t>
            </a:r>
            <a:endParaRPr b="0" i="0" sz="1000" u="none" cap="none" strike="noStrike">
              <a:solidFill>
                <a:schemeClr val="dk1"/>
              </a:solidFill>
              <a:latin typeface="Calibri"/>
              <a:ea typeface="Calibri"/>
              <a:cs typeface="Calibri"/>
              <a:sym typeface="Calibri"/>
            </a:endParaRPr>
          </a:p>
        </p:txBody>
      </p:sp>
      <p:sp>
        <p:nvSpPr>
          <p:cNvPr id="208" name="Google Shape;208;p21"/>
          <p:cNvSpPr/>
          <p:nvPr/>
        </p:nvSpPr>
        <p:spPr>
          <a:xfrm>
            <a:off x="5623560" y="3657600"/>
            <a:ext cx="73152" cy="73152"/>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21"/>
          <p:cNvSpPr/>
          <p:nvPr/>
        </p:nvSpPr>
        <p:spPr>
          <a:xfrm>
            <a:off x="5852160" y="3575304"/>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000"/>
              <a:buFont typeface="Courier New"/>
              <a:buNone/>
            </a:pPr>
            <a:r>
              <a:rPr b="0" i="0" lang="fr" sz="1000" u="none" cap="none" strike="noStrike">
                <a:solidFill>
                  <a:srgbClr val="22303C"/>
                </a:solidFill>
                <a:latin typeface="Courier New"/>
                <a:ea typeface="Courier New"/>
                <a:cs typeface="Courier New"/>
                <a:sym typeface="Courier New"/>
              </a:rPr>
              <a:t>semantic_mismatch</a:t>
            </a:r>
            <a:endParaRPr b="0" i="0" sz="1000" u="none" cap="none" strike="noStrike">
              <a:solidFill>
                <a:schemeClr val="dk1"/>
              </a:solidFill>
              <a:latin typeface="Calibri"/>
              <a:ea typeface="Calibri"/>
              <a:cs typeface="Calibri"/>
              <a:sym typeface="Calibri"/>
            </a:endParaRPr>
          </a:p>
        </p:txBody>
      </p:sp>
      <p:sp>
        <p:nvSpPr>
          <p:cNvPr id="210" name="Google Shape;210;p21"/>
          <p:cNvSpPr/>
          <p:nvPr/>
        </p:nvSpPr>
        <p:spPr>
          <a:xfrm>
            <a:off x="5623560" y="3977640"/>
            <a:ext cx="2971800" cy="4572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B7A87"/>
              </a:buClr>
              <a:buSzPts val="1000"/>
              <a:buFont typeface="Calibri"/>
              <a:buNone/>
            </a:pPr>
            <a:r>
              <a:rPr b="0" i="1" lang="fr" sz="1000" u="none" cap="none" strike="noStrike">
                <a:solidFill>
                  <a:srgbClr val="6B7A87"/>
                </a:solidFill>
                <a:latin typeface="Calibri"/>
                <a:ea typeface="Calibri"/>
                <a:cs typeface="Calibri"/>
                <a:sym typeface="Calibri"/>
              </a:rPr>
              <a:t>Chaque tentative est enregistrée dans un PipelineRunRecord.</a:t>
            </a:r>
            <a:endParaRPr b="0" i="0" sz="1000" u="none" cap="none" strike="noStrike">
              <a:solidFill>
                <a:schemeClr val="dk1"/>
              </a:solidFill>
              <a:latin typeface="Calibri"/>
              <a:ea typeface="Calibri"/>
              <a:cs typeface="Calibri"/>
              <a:sym typeface="Calibri"/>
            </a:endParaRPr>
          </a:p>
        </p:txBody>
      </p:sp>
      <p:sp>
        <p:nvSpPr>
          <p:cNvPr id="211" name="Google Shape;211;p21"/>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216" name="Shape 216"/>
        <p:cNvGrpSpPr/>
        <p:nvPr/>
      </p:nvGrpSpPr>
      <p:grpSpPr>
        <a:xfrm>
          <a:off x="0" y="0"/>
          <a:ext cx="0" cy="0"/>
          <a:chOff x="0" y="0"/>
          <a:chExt cx="0" cy="0"/>
        </a:xfrm>
      </p:grpSpPr>
      <p:sp>
        <p:nvSpPr>
          <p:cNvPr id="217" name="Google Shape;217;p22"/>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RÉSOLUTION</a:t>
            </a:r>
            <a:endParaRPr b="0" i="0" sz="1100" u="none" cap="none" strike="noStrike">
              <a:solidFill>
                <a:schemeClr val="dk1"/>
              </a:solidFill>
              <a:latin typeface="Calibri"/>
              <a:ea typeface="Calibri"/>
              <a:cs typeface="Calibri"/>
              <a:sym typeface="Calibri"/>
            </a:endParaRPr>
          </a:p>
        </p:txBody>
      </p:sp>
      <p:sp>
        <p:nvSpPr>
          <p:cNvPr id="218" name="Google Shape;218;p22"/>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Deux backends derrière une seule API</a:t>
            </a:r>
            <a:endParaRPr b="0" i="0" sz="3000" u="none" cap="none" strike="noStrike">
              <a:solidFill>
                <a:schemeClr val="dk1"/>
              </a:solidFill>
              <a:latin typeface="Calibri"/>
              <a:ea typeface="Calibri"/>
              <a:cs typeface="Calibri"/>
              <a:sym typeface="Calibri"/>
            </a:endParaRPr>
          </a:p>
        </p:txBody>
      </p:sp>
      <p:sp>
        <p:nvSpPr>
          <p:cNvPr id="219" name="Google Shape;219;p22"/>
          <p:cNvSpPr/>
          <p:nvPr/>
        </p:nvSpPr>
        <p:spPr>
          <a:xfrm>
            <a:off x="548640" y="1325880"/>
            <a:ext cx="3931920" cy="278892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2"/>
          <p:cNvSpPr/>
          <p:nvPr/>
        </p:nvSpPr>
        <p:spPr>
          <a:xfrm>
            <a:off x="777240" y="1508760"/>
            <a:ext cx="3474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2200"/>
              <a:buFont typeface="Cambria"/>
              <a:buNone/>
            </a:pPr>
            <a:r>
              <a:rPr b="1" i="0" lang="fr" sz="2200" u="none" cap="none" strike="noStrike">
                <a:solidFill>
                  <a:srgbClr val="22303C"/>
                </a:solidFill>
                <a:latin typeface="Cambria"/>
                <a:ea typeface="Cambria"/>
                <a:cs typeface="Cambria"/>
                <a:sym typeface="Cambria"/>
              </a:rPr>
              <a:t>Z3</a:t>
            </a:r>
            <a:endParaRPr b="0" i="0" sz="2200" u="none" cap="none" strike="noStrike">
              <a:solidFill>
                <a:schemeClr val="dk1"/>
              </a:solidFill>
              <a:latin typeface="Calibri"/>
              <a:ea typeface="Calibri"/>
              <a:cs typeface="Calibri"/>
              <a:sym typeface="Calibri"/>
            </a:endParaRPr>
          </a:p>
        </p:txBody>
      </p:sp>
      <p:sp>
        <p:nvSpPr>
          <p:cNvPr id="221" name="Google Shape;221;p22"/>
          <p:cNvSpPr/>
          <p:nvPr/>
        </p:nvSpPr>
        <p:spPr>
          <a:xfrm>
            <a:off x="777240" y="187452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000"/>
              <a:buFont typeface="Courier New"/>
              <a:buNone/>
            </a:pPr>
            <a:r>
              <a:rPr b="0" i="0" lang="fr" sz="1000" u="none" cap="none" strike="noStrike">
                <a:solidFill>
                  <a:srgbClr val="B5533C"/>
                </a:solidFill>
                <a:latin typeface="Courier New"/>
                <a:ea typeface="Courier New"/>
                <a:cs typeface="Courier New"/>
                <a:sym typeface="Courier New"/>
              </a:rPr>
              <a:t>sat · smt · csp</a:t>
            </a:r>
            <a:endParaRPr b="0" i="0" sz="1000" u="none" cap="none" strike="noStrike">
              <a:solidFill>
                <a:schemeClr val="dk1"/>
              </a:solidFill>
              <a:latin typeface="Calibri"/>
              <a:ea typeface="Calibri"/>
              <a:cs typeface="Calibri"/>
              <a:sym typeface="Calibri"/>
            </a:endParaRPr>
          </a:p>
        </p:txBody>
      </p:sp>
      <p:sp>
        <p:nvSpPr>
          <p:cNvPr id="222" name="Google Shape;222;p22"/>
          <p:cNvSpPr/>
          <p:nvPr/>
        </p:nvSpPr>
        <p:spPr>
          <a:xfrm>
            <a:off x="777240" y="2240280"/>
            <a:ext cx="3520440" cy="173736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z3.Solver() pour la satisfiabilité</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z3.Optimize() dès qu'un objectif est présent</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bornes de domaine ajoutées automatiquement</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retourne SAT + assignation, UNSAT, ou UNKNOWN</a:t>
            </a:r>
            <a:endParaRPr b="0" i="0" sz="1200" u="none" cap="none" strike="noStrike">
              <a:solidFill>
                <a:schemeClr val="dk1"/>
              </a:solidFill>
              <a:latin typeface="Calibri"/>
              <a:ea typeface="Calibri"/>
              <a:cs typeface="Calibri"/>
              <a:sym typeface="Calibri"/>
            </a:endParaRPr>
          </a:p>
        </p:txBody>
      </p:sp>
      <p:sp>
        <p:nvSpPr>
          <p:cNvPr id="223" name="Google Shape;223;p22"/>
          <p:cNvSpPr/>
          <p:nvPr/>
        </p:nvSpPr>
        <p:spPr>
          <a:xfrm>
            <a:off x="4663440" y="1325880"/>
            <a:ext cx="3931920" cy="278892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2"/>
          <p:cNvSpPr/>
          <p:nvPr/>
        </p:nvSpPr>
        <p:spPr>
          <a:xfrm>
            <a:off x="4892040" y="1508760"/>
            <a:ext cx="3474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2200"/>
              <a:buFont typeface="Cambria"/>
              <a:buNone/>
            </a:pPr>
            <a:r>
              <a:rPr b="1" i="0" lang="fr" sz="2200" u="none" cap="none" strike="noStrike">
                <a:solidFill>
                  <a:srgbClr val="22303C"/>
                </a:solidFill>
                <a:latin typeface="Cambria"/>
                <a:ea typeface="Cambria"/>
                <a:cs typeface="Cambria"/>
                <a:sym typeface="Cambria"/>
              </a:rPr>
              <a:t>Planificateur PDDL</a:t>
            </a:r>
            <a:endParaRPr b="0" i="0" sz="2200" u="none" cap="none" strike="noStrike">
              <a:solidFill>
                <a:schemeClr val="dk1"/>
              </a:solidFill>
              <a:latin typeface="Calibri"/>
              <a:ea typeface="Calibri"/>
              <a:cs typeface="Calibri"/>
              <a:sym typeface="Calibri"/>
            </a:endParaRPr>
          </a:p>
        </p:txBody>
      </p:sp>
      <p:sp>
        <p:nvSpPr>
          <p:cNvPr id="225" name="Google Shape;225;p22"/>
          <p:cNvSpPr/>
          <p:nvPr/>
        </p:nvSpPr>
        <p:spPr>
          <a:xfrm>
            <a:off x="4892040" y="187452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000"/>
              <a:buFont typeface="Courier New"/>
              <a:buNone/>
            </a:pPr>
            <a:r>
              <a:rPr b="0" i="0" lang="fr" sz="1000" u="none" cap="none" strike="noStrike">
                <a:solidFill>
                  <a:srgbClr val="B5533C"/>
                </a:solidFill>
                <a:latin typeface="Courier New"/>
                <a:ea typeface="Courier New"/>
                <a:cs typeface="Courier New"/>
                <a:sym typeface="Courier New"/>
              </a:rPr>
              <a:t>pddl</a:t>
            </a:r>
            <a:endParaRPr b="0" i="0" sz="1000" u="none" cap="none" strike="noStrike">
              <a:solidFill>
                <a:schemeClr val="dk1"/>
              </a:solidFill>
              <a:latin typeface="Calibri"/>
              <a:ea typeface="Calibri"/>
              <a:cs typeface="Calibri"/>
              <a:sym typeface="Calibri"/>
            </a:endParaRPr>
          </a:p>
        </p:txBody>
      </p:sp>
      <p:sp>
        <p:nvSpPr>
          <p:cNvPr id="226" name="Google Shape;226;p22"/>
          <p:cNvSpPr/>
          <p:nvPr/>
        </p:nvSpPr>
        <p:spPr>
          <a:xfrm>
            <a:off x="4892040" y="2240280"/>
            <a:ext cx="3520440" cy="173736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grounding des actions sur les objets déclarés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recherche avant (BFS) dans l'espace d'états</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préconditions et effets évalués symboliquement</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700"/>
              </a:spcBef>
              <a:spcAft>
                <a:spcPts val="0"/>
              </a:spcAft>
              <a:buClr>
                <a:srgbClr val="6B7A87"/>
              </a:buClr>
              <a:buSzPts val="1200"/>
              <a:buFont typeface="Calibri"/>
              <a:buChar char="•"/>
            </a:pPr>
            <a:r>
              <a:rPr b="0" i="0" lang="fr" sz="1200" u="none" cap="none" strike="noStrike">
                <a:solidFill>
                  <a:srgbClr val="6B7A87"/>
                </a:solidFill>
                <a:latin typeface="Calibri"/>
                <a:ea typeface="Calibri"/>
                <a:cs typeface="Calibri"/>
                <a:sym typeface="Calibri"/>
              </a:rPr>
              <a:t>écrit à la main — pas de dépendance externe</a:t>
            </a:r>
            <a:endParaRPr b="0" i="0" sz="1200" u="none" cap="none" strike="noStrike">
              <a:solidFill>
                <a:schemeClr val="dk1"/>
              </a:solidFill>
              <a:latin typeface="Calibri"/>
              <a:ea typeface="Calibri"/>
              <a:cs typeface="Calibri"/>
              <a:sym typeface="Calibri"/>
            </a:endParaRPr>
          </a:p>
        </p:txBody>
      </p:sp>
      <p:sp>
        <p:nvSpPr>
          <p:cNvPr id="227" name="Google Shape;227;p22"/>
          <p:cNvSpPr/>
          <p:nvPr/>
        </p:nvSpPr>
        <p:spPr>
          <a:xfrm>
            <a:off x="548640" y="4297680"/>
            <a:ext cx="8046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200"/>
              <a:buFont typeface="Calibri"/>
              <a:buNone/>
            </a:pPr>
            <a:r>
              <a:rPr b="0" i="1" lang="fr" sz="1200" u="none" cap="none" strike="noStrike">
                <a:solidFill>
                  <a:srgbClr val="B5533C"/>
                </a:solidFill>
                <a:latin typeface="Calibri"/>
                <a:ea typeface="Calibri"/>
                <a:cs typeface="Calibri"/>
                <a:sym typeface="Calibri"/>
              </a:rPr>
              <a:t>UNSAT n'est pas une panne : c'est une preuve d'impossibilité. Le prompt l'exige explicitement.</a:t>
            </a:r>
            <a:endParaRPr b="0" i="0" sz="1200" u="none" cap="none" strike="noStrike">
              <a:solidFill>
                <a:schemeClr val="dk1"/>
              </a:solidFill>
              <a:latin typeface="Calibri"/>
              <a:ea typeface="Calibri"/>
              <a:cs typeface="Calibri"/>
              <a:sym typeface="Calibri"/>
            </a:endParaRPr>
          </a:p>
        </p:txBody>
      </p:sp>
      <p:sp>
        <p:nvSpPr>
          <p:cNvPr id="228" name="Google Shape;228;p22"/>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233" name="Shape 233"/>
        <p:cNvGrpSpPr/>
        <p:nvPr/>
      </p:nvGrpSpPr>
      <p:grpSpPr>
        <a:xfrm>
          <a:off x="0" y="0"/>
          <a:ext cx="0" cy="0"/>
          <a:chOff x="0" y="0"/>
          <a:chExt cx="0" cy="0"/>
        </a:xfrm>
      </p:grpSpPr>
      <p:sp>
        <p:nvSpPr>
          <p:cNvPr id="234" name="Google Shape;234;p23"/>
          <p:cNvSpPr/>
          <p:nvPr/>
        </p:nvSpPr>
        <p:spPr>
          <a:xfrm>
            <a:off x="0" y="0"/>
            <a:ext cx="128016" cy="5143500"/>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3"/>
          <p:cNvSpPr/>
          <p:nvPr/>
        </p:nvSpPr>
        <p:spPr>
          <a:xfrm>
            <a:off x="822960" y="1417320"/>
            <a:ext cx="76809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200"/>
              <a:buFont typeface="Calibri"/>
              <a:buNone/>
            </a:pPr>
            <a:r>
              <a:rPr b="1" i="0" lang="fr" sz="1200" u="none" cap="none" strike="noStrike">
                <a:solidFill>
                  <a:srgbClr val="B5533C"/>
                </a:solidFill>
                <a:latin typeface="Calibri"/>
                <a:ea typeface="Calibri"/>
                <a:cs typeface="Calibri"/>
                <a:sym typeface="Calibri"/>
              </a:rPr>
              <a:t>DÉMO</a:t>
            </a:r>
            <a:endParaRPr b="0" i="0" sz="1200" u="none" cap="none" strike="noStrike">
              <a:solidFill>
                <a:schemeClr val="dk1"/>
              </a:solidFill>
              <a:latin typeface="Calibri"/>
              <a:ea typeface="Calibri"/>
              <a:cs typeface="Calibri"/>
              <a:sym typeface="Calibri"/>
            </a:endParaRPr>
          </a:p>
        </p:txBody>
      </p:sp>
      <p:sp>
        <p:nvSpPr>
          <p:cNvPr id="236" name="Google Shape;236;p23"/>
          <p:cNvSpPr/>
          <p:nvPr/>
        </p:nvSpPr>
        <p:spPr>
          <a:xfrm>
            <a:off x="822960" y="1783080"/>
            <a:ext cx="768096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600"/>
              <a:buFont typeface="Cambria"/>
              <a:buNone/>
            </a:pPr>
            <a:r>
              <a:rPr b="1" i="0" lang="fr" sz="3600" u="none" cap="none" strike="noStrike">
                <a:solidFill>
                  <a:srgbClr val="FFFFFF"/>
                </a:solidFill>
                <a:latin typeface="Cambria"/>
                <a:ea typeface="Cambria"/>
                <a:cs typeface="Cambria"/>
                <a:sym typeface="Cambria"/>
              </a:rPr>
              <a:t>Interface Streamlit</a:t>
            </a:r>
            <a:endParaRPr b="0" i="0" sz="3600" u="none" cap="none" strike="noStrike">
              <a:solidFill>
                <a:schemeClr val="dk1"/>
              </a:solidFill>
              <a:latin typeface="Calibri"/>
              <a:ea typeface="Calibri"/>
              <a:cs typeface="Calibri"/>
              <a:sym typeface="Calibri"/>
            </a:endParaRPr>
          </a:p>
        </p:txBody>
      </p:sp>
      <p:sp>
        <p:nvSpPr>
          <p:cNvPr id="237" name="Google Shape;237;p23"/>
          <p:cNvSpPr/>
          <p:nvPr/>
        </p:nvSpPr>
        <p:spPr>
          <a:xfrm>
            <a:off x="868680" y="2852928"/>
            <a:ext cx="118872" cy="118872"/>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3"/>
          <p:cNvSpPr/>
          <p:nvPr/>
        </p:nvSpPr>
        <p:spPr>
          <a:xfrm>
            <a:off x="1188720" y="2788920"/>
            <a:ext cx="7132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fr" sz="1500" u="none" cap="none" strike="noStrike">
                <a:solidFill>
                  <a:srgbClr val="FFFFFF"/>
                </a:solidFill>
                <a:latin typeface="Calibri"/>
                <a:ea typeface="Calibri"/>
                <a:cs typeface="Calibri"/>
                <a:sym typeface="Calibri"/>
              </a:rPr>
              <a:t>Un problème SAT — les chevaliers et les valets</a:t>
            </a:r>
            <a:endParaRPr b="0" i="0" sz="1500" u="none" cap="none" strike="noStrike">
              <a:solidFill>
                <a:schemeClr val="dk1"/>
              </a:solidFill>
              <a:latin typeface="Calibri"/>
              <a:ea typeface="Calibri"/>
              <a:cs typeface="Calibri"/>
              <a:sym typeface="Calibri"/>
            </a:endParaRPr>
          </a:p>
        </p:txBody>
      </p:sp>
      <p:sp>
        <p:nvSpPr>
          <p:cNvPr id="239" name="Google Shape;239;p23"/>
          <p:cNvSpPr/>
          <p:nvPr/>
        </p:nvSpPr>
        <p:spPr>
          <a:xfrm>
            <a:off x="868680" y="3310128"/>
            <a:ext cx="118872" cy="118872"/>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3"/>
          <p:cNvSpPr/>
          <p:nvPr/>
        </p:nvSpPr>
        <p:spPr>
          <a:xfrm>
            <a:off x="1188720" y="3246120"/>
            <a:ext cx="7132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fr" sz="1500" u="none" cap="none" strike="noStrike">
                <a:solidFill>
                  <a:srgbClr val="FFFFFF"/>
                </a:solidFill>
                <a:latin typeface="Calibri"/>
                <a:ea typeface="Calibri"/>
                <a:cs typeface="Calibri"/>
                <a:sym typeface="Calibri"/>
              </a:rPr>
              <a:t>Un problème impossible — 4 invités, 3 chambres (UNSAT prouvé)</a:t>
            </a:r>
            <a:endParaRPr b="0" i="0" sz="1500" u="none" cap="none" strike="noStrike">
              <a:solidFill>
                <a:schemeClr val="dk1"/>
              </a:solidFill>
              <a:latin typeface="Calibri"/>
              <a:ea typeface="Calibri"/>
              <a:cs typeface="Calibri"/>
              <a:sym typeface="Calibri"/>
            </a:endParaRPr>
          </a:p>
        </p:txBody>
      </p:sp>
      <p:sp>
        <p:nvSpPr>
          <p:cNvPr id="241" name="Google Shape;241;p23"/>
          <p:cNvSpPr/>
          <p:nvPr/>
        </p:nvSpPr>
        <p:spPr>
          <a:xfrm>
            <a:off x="868680" y="3767328"/>
            <a:ext cx="118872" cy="118872"/>
          </a:xfrm>
          <a:prstGeom prst="ellipse">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3"/>
          <p:cNvSpPr/>
          <p:nvPr/>
        </p:nvSpPr>
        <p:spPr>
          <a:xfrm>
            <a:off x="1188720" y="3703320"/>
            <a:ext cx="71323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Calibri"/>
              <a:buNone/>
            </a:pPr>
            <a:r>
              <a:rPr b="0" i="0" lang="fr" sz="1500" u="none" cap="none" strike="noStrike">
                <a:solidFill>
                  <a:srgbClr val="FFFFFF"/>
                </a:solidFill>
                <a:latin typeface="Calibri"/>
                <a:ea typeface="Calibri"/>
                <a:cs typeface="Calibri"/>
                <a:sym typeface="Calibri"/>
              </a:rPr>
              <a:t>On regarde le JSON intermédiaire, pas seulement la réponse</a:t>
            </a:r>
            <a:endParaRPr b="0" i="0" sz="1500" u="none" cap="none" strike="noStrike">
              <a:solidFill>
                <a:schemeClr val="dk1"/>
              </a:solidFill>
              <a:latin typeface="Calibri"/>
              <a:ea typeface="Calibri"/>
              <a:cs typeface="Calibri"/>
              <a:sym typeface="Calibri"/>
            </a:endParaRPr>
          </a:p>
        </p:txBody>
      </p:sp>
      <p:sp>
        <p:nvSpPr>
          <p:cNvPr id="243" name="Google Shape;243;p23"/>
          <p:cNvSpPr/>
          <p:nvPr/>
        </p:nvSpPr>
        <p:spPr>
          <a:xfrm>
            <a:off x="822960" y="434340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BC"/>
              </a:buClr>
              <a:buSzPts val="1100"/>
              <a:buFont typeface="Calibri"/>
              <a:buNone/>
            </a:pPr>
            <a:r>
              <a:rPr b="0" i="1" lang="fr" sz="1100" u="none" cap="none" strike="noStrike">
                <a:solidFill>
                  <a:srgbClr val="9FB0BC"/>
                </a:solidFill>
                <a:latin typeface="Calibri"/>
                <a:ea typeface="Calibri"/>
                <a:cs typeface="Calibri"/>
                <a:sym typeface="Calibri"/>
              </a:rPr>
              <a:t>≈ 90 secondes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248" name="Shape 248"/>
        <p:cNvGrpSpPr/>
        <p:nvPr/>
      </p:nvGrpSpPr>
      <p:grpSpPr>
        <a:xfrm>
          <a:off x="0" y="0"/>
          <a:ext cx="0" cy="0"/>
          <a:chOff x="0" y="0"/>
          <a:chExt cx="0" cy="0"/>
        </a:xfrm>
      </p:grpSpPr>
      <p:sp>
        <p:nvSpPr>
          <p:cNvPr id="249" name="Google Shape;249;p24"/>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ÉVALUATION</a:t>
            </a:r>
            <a:endParaRPr b="0" i="0" sz="1100" u="none" cap="none" strike="noStrike">
              <a:solidFill>
                <a:schemeClr val="dk1"/>
              </a:solidFill>
              <a:latin typeface="Calibri"/>
              <a:ea typeface="Calibri"/>
              <a:cs typeface="Calibri"/>
              <a:sym typeface="Calibri"/>
            </a:endParaRPr>
          </a:p>
        </p:txBody>
      </p:sp>
      <p:sp>
        <p:nvSpPr>
          <p:cNvPr id="250" name="Google Shape;250;p24"/>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Deux bancs d'essai : couverture multi-formalismes et fidélité de traduction</a:t>
            </a:r>
            <a:endParaRPr b="0" i="0" sz="3000" u="none" cap="none" strike="noStrike">
              <a:solidFill>
                <a:schemeClr val="dk1"/>
              </a:solidFill>
              <a:latin typeface="Calibri"/>
              <a:ea typeface="Calibri"/>
              <a:cs typeface="Calibri"/>
              <a:sym typeface="Calibri"/>
            </a:endParaRPr>
          </a:p>
        </p:txBody>
      </p:sp>
      <p:sp>
        <p:nvSpPr>
          <p:cNvPr id="251" name="Google Shape;251;p24"/>
          <p:cNvSpPr/>
          <p:nvPr/>
        </p:nvSpPr>
        <p:spPr>
          <a:xfrm>
            <a:off x="548640" y="1280160"/>
            <a:ext cx="18745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4"/>
          <p:cNvSpPr/>
          <p:nvPr/>
        </p:nvSpPr>
        <p:spPr>
          <a:xfrm>
            <a:off x="731520" y="1371600"/>
            <a:ext cx="14630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i="0" lang="fr" sz="3400" u="none" cap="none" strike="noStrike">
                <a:solidFill>
                  <a:srgbClr val="B5533C"/>
                </a:solidFill>
                <a:latin typeface="Cambria"/>
                <a:ea typeface="Cambria"/>
                <a:cs typeface="Cambria"/>
                <a:sym typeface="Cambria"/>
              </a:rPr>
              <a:t>20</a:t>
            </a:r>
            <a:endParaRPr b="0" i="0" sz="3400" u="none" cap="none" strike="noStrike">
              <a:solidFill>
                <a:schemeClr val="dk1"/>
              </a:solidFill>
              <a:latin typeface="Calibri"/>
              <a:ea typeface="Calibri"/>
              <a:cs typeface="Calibri"/>
              <a:sym typeface="Calibri"/>
            </a:endParaRPr>
          </a:p>
        </p:txBody>
      </p:sp>
      <p:sp>
        <p:nvSpPr>
          <p:cNvPr id="253" name="Google Shape;253;p24"/>
          <p:cNvSpPr/>
          <p:nvPr/>
        </p:nvSpPr>
        <p:spPr>
          <a:xfrm>
            <a:off x="731520" y="1938528"/>
            <a:ext cx="1554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problèmes</a:t>
            </a:r>
            <a:endParaRPr b="0" i="0" sz="1100" u="none" cap="none" strike="noStrike">
              <a:solidFill>
                <a:schemeClr val="dk1"/>
              </a:solidFill>
              <a:latin typeface="Calibri"/>
              <a:ea typeface="Calibri"/>
              <a:cs typeface="Calibri"/>
              <a:sym typeface="Calibri"/>
            </a:endParaRPr>
          </a:p>
        </p:txBody>
      </p:sp>
      <p:sp>
        <p:nvSpPr>
          <p:cNvPr id="254" name="Google Shape;254;p24"/>
          <p:cNvSpPr/>
          <p:nvPr/>
        </p:nvSpPr>
        <p:spPr>
          <a:xfrm>
            <a:off x="2606040" y="1280160"/>
            <a:ext cx="18745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4"/>
          <p:cNvSpPr/>
          <p:nvPr/>
        </p:nvSpPr>
        <p:spPr>
          <a:xfrm>
            <a:off x="2788920" y="1371600"/>
            <a:ext cx="14630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i="0" lang="fr" sz="3400" u="none" cap="none" strike="noStrike">
                <a:solidFill>
                  <a:srgbClr val="B5533C"/>
                </a:solidFill>
                <a:latin typeface="Cambria"/>
                <a:ea typeface="Cambria"/>
                <a:cs typeface="Cambria"/>
                <a:sym typeface="Cambria"/>
              </a:rPr>
              <a:t>4</a:t>
            </a:r>
            <a:endParaRPr b="0" i="0" sz="3400" u="none" cap="none" strike="noStrike">
              <a:solidFill>
                <a:schemeClr val="dk1"/>
              </a:solidFill>
              <a:latin typeface="Calibri"/>
              <a:ea typeface="Calibri"/>
              <a:cs typeface="Calibri"/>
              <a:sym typeface="Calibri"/>
            </a:endParaRPr>
          </a:p>
        </p:txBody>
      </p:sp>
      <p:sp>
        <p:nvSpPr>
          <p:cNvPr id="256" name="Google Shape;256;p24"/>
          <p:cNvSpPr/>
          <p:nvPr/>
        </p:nvSpPr>
        <p:spPr>
          <a:xfrm>
            <a:off x="2788920" y="1938528"/>
            <a:ext cx="1554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formalismes</a:t>
            </a:r>
            <a:endParaRPr b="0" i="0" sz="1100" u="none" cap="none" strike="noStrike">
              <a:solidFill>
                <a:schemeClr val="dk1"/>
              </a:solidFill>
              <a:latin typeface="Calibri"/>
              <a:ea typeface="Calibri"/>
              <a:cs typeface="Calibri"/>
              <a:sym typeface="Calibri"/>
            </a:endParaRPr>
          </a:p>
        </p:txBody>
      </p:sp>
      <p:sp>
        <p:nvSpPr>
          <p:cNvPr id="257" name="Google Shape;257;p24"/>
          <p:cNvSpPr/>
          <p:nvPr/>
        </p:nvSpPr>
        <p:spPr>
          <a:xfrm>
            <a:off x="4663440" y="1280160"/>
            <a:ext cx="18745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4"/>
          <p:cNvSpPr/>
          <p:nvPr/>
        </p:nvSpPr>
        <p:spPr>
          <a:xfrm>
            <a:off x="4846320" y="1371600"/>
            <a:ext cx="14630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i="0" lang="fr" sz="3400" u="none" cap="none" strike="noStrike">
                <a:solidFill>
                  <a:srgbClr val="B5533C"/>
                </a:solidFill>
                <a:latin typeface="Cambria"/>
                <a:ea typeface="Cambria"/>
                <a:cs typeface="Cambria"/>
                <a:sym typeface="Cambria"/>
              </a:rPr>
              <a:t>5</a:t>
            </a:r>
            <a:endParaRPr b="0" i="0" sz="3400" u="none" cap="none" strike="noStrike">
              <a:solidFill>
                <a:schemeClr val="dk1"/>
              </a:solidFill>
              <a:latin typeface="Calibri"/>
              <a:ea typeface="Calibri"/>
              <a:cs typeface="Calibri"/>
              <a:sym typeface="Calibri"/>
            </a:endParaRPr>
          </a:p>
        </p:txBody>
      </p:sp>
      <p:sp>
        <p:nvSpPr>
          <p:cNvPr id="259" name="Google Shape;259;p24"/>
          <p:cNvSpPr/>
          <p:nvPr/>
        </p:nvSpPr>
        <p:spPr>
          <a:xfrm>
            <a:off x="4846320" y="1938528"/>
            <a:ext cx="1554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par formalisme</a:t>
            </a:r>
            <a:endParaRPr b="0" i="0" sz="1100" u="none" cap="none" strike="noStrike">
              <a:solidFill>
                <a:schemeClr val="dk1"/>
              </a:solidFill>
              <a:latin typeface="Calibri"/>
              <a:ea typeface="Calibri"/>
              <a:cs typeface="Calibri"/>
              <a:sym typeface="Calibri"/>
            </a:endParaRPr>
          </a:p>
        </p:txBody>
      </p:sp>
      <p:sp>
        <p:nvSpPr>
          <p:cNvPr id="260" name="Google Shape;260;p24"/>
          <p:cNvSpPr/>
          <p:nvPr/>
        </p:nvSpPr>
        <p:spPr>
          <a:xfrm>
            <a:off x="6720840" y="1280160"/>
            <a:ext cx="18745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4"/>
          <p:cNvSpPr/>
          <p:nvPr/>
        </p:nvSpPr>
        <p:spPr>
          <a:xfrm>
            <a:off x="6903720" y="1371600"/>
            <a:ext cx="14630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i="0" lang="fr" sz="3400" u="none" cap="none" strike="noStrike">
                <a:solidFill>
                  <a:srgbClr val="B5533C"/>
                </a:solidFill>
                <a:latin typeface="Cambria"/>
                <a:ea typeface="Cambria"/>
                <a:cs typeface="Cambria"/>
                <a:sym typeface="Cambria"/>
              </a:rPr>
              <a:t>2</a:t>
            </a:r>
            <a:endParaRPr b="0" i="0" sz="3400" u="none" cap="none" strike="noStrike">
              <a:solidFill>
                <a:schemeClr val="dk1"/>
              </a:solidFill>
              <a:latin typeface="Calibri"/>
              <a:ea typeface="Calibri"/>
              <a:cs typeface="Calibri"/>
              <a:sym typeface="Calibri"/>
            </a:endParaRPr>
          </a:p>
        </p:txBody>
      </p:sp>
      <p:sp>
        <p:nvSpPr>
          <p:cNvPr id="262" name="Google Shape;262;p24"/>
          <p:cNvSpPr/>
          <p:nvPr/>
        </p:nvSpPr>
        <p:spPr>
          <a:xfrm>
            <a:off x="6903720" y="1938528"/>
            <a:ext cx="1554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bancs d'essai</a:t>
            </a:r>
            <a:endParaRPr b="0" i="0" sz="1100" u="none" cap="none" strike="noStrike">
              <a:solidFill>
                <a:schemeClr val="dk1"/>
              </a:solidFill>
              <a:latin typeface="Calibri"/>
              <a:ea typeface="Calibri"/>
              <a:cs typeface="Calibri"/>
              <a:sym typeface="Calibri"/>
            </a:endParaRPr>
          </a:p>
        </p:txBody>
      </p:sp>
      <p:sp>
        <p:nvSpPr>
          <p:cNvPr id="263" name="Google Shape;263;p24"/>
          <p:cNvSpPr/>
          <p:nvPr/>
        </p:nvSpPr>
        <p:spPr>
          <a:xfrm>
            <a:off x="548640" y="260604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300"/>
              <a:buFont typeface="Calibri"/>
              <a:buNone/>
            </a:pPr>
            <a:r>
              <a:rPr b="1" i="0" lang="fr" sz="1300" u="none" cap="none" strike="noStrike">
                <a:solidFill>
                  <a:srgbClr val="22303C"/>
                </a:solidFill>
                <a:latin typeface="Calibri"/>
                <a:ea typeface="Calibri"/>
                <a:cs typeface="Calibri"/>
                <a:sym typeface="Calibri"/>
              </a:rPr>
              <a:t>Deux bancs d'essai complémentaires</a:t>
            </a:r>
            <a:endParaRPr b="0" i="0" sz="1300" u="none" cap="none" strike="noStrike">
              <a:solidFill>
                <a:schemeClr val="dk1"/>
              </a:solidFill>
              <a:latin typeface="Calibri"/>
              <a:ea typeface="Calibri"/>
              <a:cs typeface="Calibri"/>
              <a:sym typeface="Calibri"/>
            </a:endParaRPr>
          </a:p>
        </p:txBody>
      </p:sp>
      <p:sp>
        <p:nvSpPr>
          <p:cNvPr id="264" name="Google Shape;264;p24"/>
          <p:cNvSpPr/>
          <p:nvPr/>
        </p:nvSpPr>
        <p:spPr>
          <a:xfrm>
            <a:off x="548640" y="3108960"/>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4"/>
          <p:cNvSpPr/>
          <p:nvPr/>
        </p:nvSpPr>
        <p:spPr>
          <a:xfrm>
            <a:off x="749808" y="3017520"/>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Banc 1 · Couverture (benchmark_runner)</a:t>
            </a:r>
            <a:endParaRPr b="0" i="0" sz="1100" u="none" cap="none" strike="noStrike">
              <a:solidFill>
                <a:schemeClr val="dk1"/>
              </a:solidFill>
              <a:latin typeface="Calibri"/>
              <a:ea typeface="Calibri"/>
              <a:cs typeface="Calibri"/>
              <a:sym typeface="Calibri"/>
            </a:endParaRPr>
          </a:p>
        </p:txBody>
      </p:sp>
      <p:sp>
        <p:nvSpPr>
          <p:cNvPr id="266" name="Google Shape;266;p24"/>
          <p:cNvSpPr/>
          <p:nvPr/>
        </p:nvSpPr>
        <p:spPr>
          <a:xfrm>
            <a:off x="4617720" y="3108960"/>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4"/>
          <p:cNvSpPr/>
          <p:nvPr/>
        </p:nvSpPr>
        <p:spPr>
          <a:xfrm>
            <a:off x="4818888" y="3017520"/>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20 problèmes, 5 par formalisme</a:t>
            </a:r>
            <a:endParaRPr b="0" i="0" sz="1100" u="none" cap="none" strike="noStrike">
              <a:solidFill>
                <a:schemeClr val="dk1"/>
              </a:solidFill>
              <a:latin typeface="Calibri"/>
              <a:ea typeface="Calibri"/>
              <a:cs typeface="Calibri"/>
              <a:sym typeface="Calibri"/>
            </a:endParaRPr>
          </a:p>
        </p:txBody>
      </p:sp>
      <p:sp>
        <p:nvSpPr>
          <p:cNvPr id="268" name="Google Shape;268;p24"/>
          <p:cNvSpPr/>
          <p:nvPr/>
        </p:nvSpPr>
        <p:spPr>
          <a:xfrm>
            <a:off x="548640" y="3419856"/>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4"/>
          <p:cNvSpPr/>
          <p:nvPr/>
        </p:nvSpPr>
        <p:spPr>
          <a:xfrm>
            <a:off x="749808" y="3328416"/>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SAT · SMT · CSP · PDDL</a:t>
            </a:r>
            <a:endParaRPr b="0" i="0" sz="1100" u="none" cap="none" strike="noStrike">
              <a:solidFill>
                <a:schemeClr val="dk1"/>
              </a:solidFill>
              <a:latin typeface="Calibri"/>
              <a:ea typeface="Calibri"/>
              <a:cs typeface="Calibri"/>
              <a:sym typeface="Calibri"/>
            </a:endParaRPr>
          </a:p>
        </p:txBody>
      </p:sp>
      <p:sp>
        <p:nvSpPr>
          <p:cNvPr id="270" name="Google Shape;270;p24"/>
          <p:cNvSpPr/>
          <p:nvPr/>
        </p:nvSpPr>
        <p:spPr>
          <a:xfrm>
            <a:off x="4617720" y="3419856"/>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4"/>
          <p:cNvSpPr/>
          <p:nvPr/>
        </p:nvSpPr>
        <p:spPr>
          <a:xfrm>
            <a:off x="4818888" y="3328416"/>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instances SAT et UNSAT mélangées</a:t>
            </a:r>
            <a:endParaRPr b="0" i="0" sz="1100" u="none" cap="none" strike="noStrike">
              <a:solidFill>
                <a:schemeClr val="dk1"/>
              </a:solidFill>
              <a:latin typeface="Calibri"/>
              <a:ea typeface="Calibri"/>
              <a:cs typeface="Calibri"/>
              <a:sym typeface="Calibri"/>
            </a:endParaRPr>
          </a:p>
        </p:txBody>
      </p:sp>
      <p:sp>
        <p:nvSpPr>
          <p:cNvPr id="272" name="Google Shape;272;p24"/>
          <p:cNvSpPr/>
          <p:nvPr/>
        </p:nvSpPr>
        <p:spPr>
          <a:xfrm>
            <a:off x="548640" y="3730752"/>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4"/>
          <p:cNvSpPr/>
          <p:nvPr/>
        </p:nvSpPr>
        <p:spPr>
          <a:xfrm>
            <a:off x="749808" y="3639312"/>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Banc 2 · Fidélité (LogicGrid)</a:t>
            </a:r>
            <a:endParaRPr b="0" i="0" sz="1100" u="none" cap="none" strike="noStrike">
              <a:solidFill>
                <a:schemeClr val="dk1"/>
              </a:solidFill>
              <a:latin typeface="Calibri"/>
              <a:ea typeface="Calibri"/>
              <a:cs typeface="Calibri"/>
              <a:sym typeface="Calibri"/>
            </a:endParaRPr>
          </a:p>
        </p:txBody>
      </p:sp>
      <p:sp>
        <p:nvSpPr>
          <p:cNvPr id="274" name="Google Shape;274;p24"/>
          <p:cNvSpPr/>
          <p:nvPr/>
        </p:nvSpPr>
        <p:spPr>
          <a:xfrm>
            <a:off x="4617720" y="3730752"/>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4"/>
          <p:cNvSpPr/>
          <p:nvPr/>
        </p:nvSpPr>
        <p:spPr>
          <a:xfrm>
            <a:off x="4818888" y="3639312"/>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grilles logiques à solution unique</a:t>
            </a:r>
            <a:endParaRPr b="0" i="0" sz="1100" u="none" cap="none" strike="noStrike">
              <a:solidFill>
                <a:schemeClr val="dk1"/>
              </a:solidFill>
              <a:latin typeface="Calibri"/>
              <a:ea typeface="Calibri"/>
              <a:cs typeface="Calibri"/>
              <a:sym typeface="Calibri"/>
            </a:endParaRPr>
          </a:p>
        </p:txBody>
      </p:sp>
      <p:sp>
        <p:nvSpPr>
          <p:cNvPr id="276" name="Google Shape;276;p24"/>
          <p:cNvSpPr/>
          <p:nvPr/>
        </p:nvSpPr>
        <p:spPr>
          <a:xfrm>
            <a:off x="548640" y="4041648"/>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4"/>
          <p:cNvSpPr/>
          <p:nvPr/>
        </p:nvSpPr>
        <p:spPr>
          <a:xfrm>
            <a:off x="749808" y="3950208"/>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unicité vérifiée (clause de blocage Z3)</a:t>
            </a:r>
            <a:endParaRPr b="0" i="0" sz="1100" u="none" cap="none" strike="noStrike">
              <a:solidFill>
                <a:schemeClr val="dk1"/>
              </a:solidFill>
              <a:latin typeface="Calibri"/>
              <a:ea typeface="Calibri"/>
              <a:cs typeface="Calibri"/>
              <a:sym typeface="Calibri"/>
            </a:endParaRPr>
          </a:p>
        </p:txBody>
      </p:sp>
      <p:sp>
        <p:nvSpPr>
          <p:cNvPr id="278" name="Google Shape;278;p24"/>
          <p:cNvSpPr/>
          <p:nvPr/>
        </p:nvSpPr>
        <p:spPr>
          <a:xfrm>
            <a:off x="4617720" y="4041648"/>
            <a:ext cx="64008" cy="64008"/>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4"/>
          <p:cNvSpPr/>
          <p:nvPr/>
        </p:nvSpPr>
        <p:spPr>
          <a:xfrm>
            <a:off x="4818888" y="3950208"/>
            <a:ext cx="3840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détecte les contraintes omises</a:t>
            </a:r>
            <a:endParaRPr b="0" i="0" sz="1100" u="none" cap="none" strike="noStrike">
              <a:solidFill>
                <a:schemeClr val="dk1"/>
              </a:solidFill>
              <a:latin typeface="Calibri"/>
              <a:ea typeface="Calibri"/>
              <a:cs typeface="Calibri"/>
              <a:sym typeface="Calibri"/>
            </a:endParaRPr>
          </a:p>
        </p:txBody>
      </p:sp>
      <p:sp>
        <p:nvSpPr>
          <p:cNvPr id="280" name="Google Shape;280;p24"/>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285" name="Shape 285"/>
        <p:cNvGrpSpPr/>
        <p:nvPr/>
      </p:nvGrpSpPr>
      <p:grpSpPr>
        <a:xfrm>
          <a:off x="0" y="0"/>
          <a:ext cx="0" cy="0"/>
          <a:chOff x="0" y="0"/>
          <a:chExt cx="0" cy="0"/>
        </a:xfrm>
      </p:grpSpPr>
      <p:sp>
        <p:nvSpPr>
          <p:cNvPr id="286" name="Google Shape;286;p25"/>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RÉSULTATS</a:t>
            </a:r>
            <a:endParaRPr b="0" i="0" sz="1100" u="none" cap="none" strike="noStrike">
              <a:solidFill>
                <a:schemeClr val="dk1"/>
              </a:solidFill>
              <a:latin typeface="Calibri"/>
              <a:ea typeface="Calibri"/>
              <a:cs typeface="Calibri"/>
              <a:sym typeface="Calibri"/>
            </a:endParaRPr>
          </a:p>
        </p:txBody>
      </p:sp>
      <p:sp>
        <p:nvSpPr>
          <p:cNvPr id="287" name="Google Shape;287;p25"/>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Ce que la taxonomie révèle</a:t>
            </a:r>
            <a:endParaRPr b="0" i="0" sz="3000" u="none" cap="none" strike="noStrike">
              <a:solidFill>
                <a:schemeClr val="dk1"/>
              </a:solidFill>
              <a:latin typeface="Calibri"/>
              <a:ea typeface="Calibri"/>
              <a:cs typeface="Calibri"/>
              <a:sym typeface="Calibri"/>
            </a:endParaRPr>
          </a:p>
        </p:txBody>
      </p:sp>
      <p:sp>
        <p:nvSpPr>
          <p:cNvPr id="288" name="Google Shape;288;p25"/>
          <p:cNvSpPr/>
          <p:nvPr/>
        </p:nvSpPr>
        <p:spPr>
          <a:xfrm>
            <a:off x="548640" y="1280160"/>
            <a:ext cx="2606040" cy="1691640"/>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5"/>
          <p:cNvSpPr/>
          <p:nvPr/>
        </p:nvSpPr>
        <p:spPr>
          <a:xfrm>
            <a:off x="777240" y="1463040"/>
            <a:ext cx="21945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lang="fr" sz="3400">
                <a:solidFill>
                  <a:srgbClr val="B5533C"/>
                </a:solidFill>
                <a:latin typeface="Cambria"/>
                <a:ea typeface="Cambria"/>
                <a:cs typeface="Cambria"/>
                <a:sym typeface="Cambria"/>
              </a:rPr>
              <a:t>70 </a:t>
            </a:r>
            <a:r>
              <a:rPr b="1" i="0" lang="fr" sz="3400" u="none" cap="none" strike="noStrike">
                <a:solidFill>
                  <a:srgbClr val="B5533C"/>
                </a:solidFill>
                <a:latin typeface="Cambria"/>
                <a:ea typeface="Cambria"/>
                <a:cs typeface="Cambria"/>
                <a:sym typeface="Cambria"/>
              </a:rPr>
              <a:t>%</a:t>
            </a:r>
            <a:endParaRPr b="0" i="0" sz="3400" u="none" cap="none" strike="noStrike">
              <a:solidFill>
                <a:schemeClr val="dk1"/>
              </a:solidFill>
              <a:latin typeface="Calibri"/>
              <a:ea typeface="Calibri"/>
              <a:cs typeface="Calibri"/>
              <a:sym typeface="Calibri"/>
            </a:endParaRPr>
          </a:p>
        </p:txBody>
      </p:sp>
      <p:sp>
        <p:nvSpPr>
          <p:cNvPr id="290" name="Google Shape;290;p25"/>
          <p:cNvSpPr/>
          <p:nvPr/>
        </p:nvSpPr>
        <p:spPr>
          <a:xfrm>
            <a:off x="777240" y="2057400"/>
            <a:ext cx="2194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fr" sz="1300" u="none" cap="none" strike="noStrike">
                <a:solidFill>
                  <a:srgbClr val="FFFFFF"/>
                </a:solidFill>
                <a:latin typeface="Calibri"/>
                <a:ea typeface="Calibri"/>
                <a:cs typeface="Calibri"/>
                <a:sym typeface="Calibri"/>
              </a:rPr>
              <a:t>succès direct</a:t>
            </a:r>
            <a:endParaRPr b="0" i="0" sz="1300" u="none" cap="none" strike="noStrike">
              <a:solidFill>
                <a:schemeClr val="dk1"/>
              </a:solidFill>
              <a:latin typeface="Calibri"/>
              <a:ea typeface="Calibri"/>
              <a:cs typeface="Calibri"/>
              <a:sym typeface="Calibri"/>
            </a:endParaRPr>
          </a:p>
        </p:txBody>
      </p:sp>
      <p:sp>
        <p:nvSpPr>
          <p:cNvPr id="291" name="Google Shape;291;p25"/>
          <p:cNvSpPr/>
          <p:nvPr/>
        </p:nvSpPr>
        <p:spPr>
          <a:xfrm>
            <a:off x="777240" y="2359152"/>
            <a:ext cx="2194560" cy="5486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9FB0BC"/>
              </a:buClr>
              <a:buSzPts val="1000"/>
              <a:buFont typeface="Calibri"/>
              <a:buNone/>
            </a:pPr>
            <a:r>
              <a:rPr b="0" i="0" lang="fr" sz="1000" u="none" cap="none" strike="noStrike">
                <a:solidFill>
                  <a:srgbClr val="9FB0BC"/>
                </a:solidFill>
                <a:latin typeface="Calibri"/>
                <a:ea typeface="Calibri"/>
                <a:cs typeface="Calibri"/>
                <a:sym typeface="Calibri"/>
              </a:rPr>
              <a:t>traduction correcte dès la 1re tentative</a:t>
            </a:r>
            <a:endParaRPr b="0" i="0" sz="1000" u="none" cap="none" strike="noStrike">
              <a:solidFill>
                <a:schemeClr val="dk1"/>
              </a:solidFill>
              <a:latin typeface="Calibri"/>
              <a:ea typeface="Calibri"/>
              <a:cs typeface="Calibri"/>
              <a:sym typeface="Calibri"/>
            </a:endParaRPr>
          </a:p>
        </p:txBody>
      </p:sp>
      <p:sp>
        <p:nvSpPr>
          <p:cNvPr id="292" name="Google Shape;292;p25"/>
          <p:cNvSpPr/>
          <p:nvPr/>
        </p:nvSpPr>
        <p:spPr>
          <a:xfrm>
            <a:off x="3291840" y="1280160"/>
            <a:ext cx="2606040" cy="1691640"/>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5"/>
          <p:cNvSpPr/>
          <p:nvPr/>
        </p:nvSpPr>
        <p:spPr>
          <a:xfrm>
            <a:off x="3520440" y="1463040"/>
            <a:ext cx="21945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lang="fr" sz="3400">
                <a:solidFill>
                  <a:srgbClr val="B5533C"/>
                </a:solidFill>
                <a:latin typeface="Cambria"/>
                <a:ea typeface="Cambria"/>
                <a:cs typeface="Cambria"/>
                <a:sym typeface="Cambria"/>
              </a:rPr>
              <a:t>75 </a:t>
            </a:r>
            <a:r>
              <a:rPr b="1" i="0" lang="fr" sz="3400" u="none" cap="none" strike="noStrike">
                <a:solidFill>
                  <a:srgbClr val="B5533C"/>
                </a:solidFill>
                <a:latin typeface="Cambria"/>
                <a:ea typeface="Cambria"/>
                <a:cs typeface="Cambria"/>
                <a:sym typeface="Cambria"/>
              </a:rPr>
              <a:t>%</a:t>
            </a:r>
            <a:endParaRPr b="0" i="0" sz="3400" u="none" cap="none" strike="noStrike">
              <a:solidFill>
                <a:schemeClr val="dk1"/>
              </a:solidFill>
              <a:latin typeface="Calibri"/>
              <a:ea typeface="Calibri"/>
              <a:cs typeface="Calibri"/>
              <a:sym typeface="Calibri"/>
            </a:endParaRPr>
          </a:p>
        </p:txBody>
      </p:sp>
      <p:sp>
        <p:nvSpPr>
          <p:cNvPr id="294" name="Google Shape;294;p25"/>
          <p:cNvSpPr/>
          <p:nvPr/>
        </p:nvSpPr>
        <p:spPr>
          <a:xfrm>
            <a:off x="3520440" y="2057400"/>
            <a:ext cx="2194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fr" sz="1300" u="none" cap="none" strike="noStrike">
                <a:solidFill>
                  <a:srgbClr val="FFFFFF"/>
                </a:solidFill>
                <a:latin typeface="Calibri"/>
                <a:ea typeface="Calibri"/>
                <a:cs typeface="Calibri"/>
                <a:sym typeface="Calibri"/>
              </a:rPr>
              <a:t>succès après correction</a:t>
            </a:r>
            <a:endParaRPr b="0" i="0" sz="1300" u="none" cap="none" strike="noStrike">
              <a:solidFill>
                <a:schemeClr val="dk1"/>
              </a:solidFill>
              <a:latin typeface="Calibri"/>
              <a:ea typeface="Calibri"/>
              <a:cs typeface="Calibri"/>
              <a:sym typeface="Calibri"/>
            </a:endParaRPr>
          </a:p>
        </p:txBody>
      </p:sp>
      <p:sp>
        <p:nvSpPr>
          <p:cNvPr id="295" name="Google Shape;295;p25"/>
          <p:cNvSpPr/>
          <p:nvPr/>
        </p:nvSpPr>
        <p:spPr>
          <a:xfrm>
            <a:off x="3520440" y="2359152"/>
            <a:ext cx="2194560" cy="5486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9FB0BC"/>
              </a:buClr>
              <a:buSzPts val="1000"/>
              <a:buFont typeface="Calibri"/>
              <a:buNone/>
            </a:pPr>
            <a:r>
              <a:rPr b="0" i="0" lang="fr" sz="1000" u="none" cap="none" strike="noStrike">
                <a:solidFill>
                  <a:srgbClr val="9FB0BC"/>
                </a:solidFill>
                <a:latin typeface="Calibri"/>
                <a:ea typeface="Calibri"/>
                <a:cs typeface="Calibri"/>
                <a:sym typeface="Calibri"/>
              </a:rPr>
              <a:t>gain apporté par la boucle de re-prompting</a:t>
            </a:r>
            <a:endParaRPr b="0" i="0" sz="1000" u="none" cap="none" strike="noStrike">
              <a:solidFill>
                <a:schemeClr val="dk1"/>
              </a:solidFill>
              <a:latin typeface="Calibri"/>
              <a:ea typeface="Calibri"/>
              <a:cs typeface="Calibri"/>
              <a:sym typeface="Calibri"/>
            </a:endParaRPr>
          </a:p>
        </p:txBody>
      </p:sp>
      <p:sp>
        <p:nvSpPr>
          <p:cNvPr id="296" name="Google Shape;296;p25"/>
          <p:cNvSpPr/>
          <p:nvPr/>
        </p:nvSpPr>
        <p:spPr>
          <a:xfrm>
            <a:off x="6035040" y="1280160"/>
            <a:ext cx="2606040" cy="1691640"/>
          </a:xfrm>
          <a:prstGeom prst="rect">
            <a:avLst/>
          </a:prstGeom>
          <a:solidFill>
            <a:srgbClr val="2230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5"/>
          <p:cNvSpPr/>
          <p:nvPr/>
        </p:nvSpPr>
        <p:spPr>
          <a:xfrm>
            <a:off x="6263640" y="1463040"/>
            <a:ext cx="21945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3400"/>
              <a:buFont typeface="Cambria"/>
              <a:buNone/>
            </a:pPr>
            <a:r>
              <a:rPr b="1" lang="fr" sz="3400">
                <a:solidFill>
                  <a:srgbClr val="B5533C"/>
                </a:solidFill>
                <a:latin typeface="Cambria"/>
                <a:ea typeface="Cambria"/>
                <a:cs typeface="Cambria"/>
                <a:sym typeface="Cambria"/>
              </a:rPr>
              <a:t>1.85</a:t>
            </a:r>
            <a:endParaRPr b="0" i="0" sz="3400" u="none" cap="none" strike="noStrike">
              <a:solidFill>
                <a:schemeClr val="dk1"/>
              </a:solidFill>
              <a:latin typeface="Calibri"/>
              <a:ea typeface="Calibri"/>
              <a:cs typeface="Calibri"/>
              <a:sym typeface="Calibri"/>
            </a:endParaRPr>
          </a:p>
        </p:txBody>
      </p:sp>
      <p:sp>
        <p:nvSpPr>
          <p:cNvPr id="298" name="Google Shape;298;p25"/>
          <p:cNvSpPr/>
          <p:nvPr/>
        </p:nvSpPr>
        <p:spPr>
          <a:xfrm>
            <a:off x="6263640" y="2057400"/>
            <a:ext cx="2194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fr" sz="1300" u="none" cap="none" strike="noStrike">
                <a:solidFill>
                  <a:srgbClr val="FFFFFF"/>
                </a:solidFill>
                <a:latin typeface="Calibri"/>
                <a:ea typeface="Calibri"/>
                <a:cs typeface="Calibri"/>
                <a:sym typeface="Calibri"/>
              </a:rPr>
              <a:t>tentatives en moyenne</a:t>
            </a:r>
            <a:endParaRPr b="0" i="0" sz="1300" u="none" cap="none" strike="noStrike">
              <a:solidFill>
                <a:schemeClr val="dk1"/>
              </a:solidFill>
              <a:latin typeface="Calibri"/>
              <a:ea typeface="Calibri"/>
              <a:cs typeface="Calibri"/>
              <a:sym typeface="Calibri"/>
            </a:endParaRPr>
          </a:p>
        </p:txBody>
      </p:sp>
      <p:sp>
        <p:nvSpPr>
          <p:cNvPr id="299" name="Google Shape;299;p25"/>
          <p:cNvSpPr/>
          <p:nvPr/>
        </p:nvSpPr>
        <p:spPr>
          <a:xfrm>
            <a:off x="6263640" y="2359152"/>
            <a:ext cx="2194560" cy="5486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9FB0BC"/>
              </a:buClr>
              <a:buSzPts val="1000"/>
              <a:buFont typeface="Calibri"/>
              <a:buNone/>
            </a:pPr>
            <a:r>
              <a:rPr b="0" i="0" lang="fr" sz="1000" u="none" cap="none" strike="noStrike">
                <a:solidFill>
                  <a:srgbClr val="9FB0BC"/>
                </a:solidFill>
                <a:latin typeface="Calibri"/>
                <a:ea typeface="Calibri"/>
                <a:cs typeface="Calibri"/>
                <a:sym typeface="Calibri"/>
              </a:rPr>
              <a:t>coût réel d'une traduction fiable</a:t>
            </a:r>
            <a:endParaRPr b="0" i="0" sz="1000" u="none" cap="none" strike="noStrike">
              <a:solidFill>
                <a:schemeClr val="dk1"/>
              </a:solidFill>
              <a:latin typeface="Calibri"/>
              <a:ea typeface="Calibri"/>
              <a:cs typeface="Calibri"/>
              <a:sym typeface="Calibri"/>
            </a:endParaRPr>
          </a:p>
        </p:txBody>
      </p:sp>
      <p:sp>
        <p:nvSpPr>
          <p:cNvPr id="300" name="Google Shape;300;p25"/>
          <p:cNvSpPr/>
          <p:nvPr/>
        </p:nvSpPr>
        <p:spPr>
          <a:xfrm>
            <a:off x="548640" y="3200400"/>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300"/>
              <a:buFont typeface="Calibri"/>
              <a:buNone/>
            </a:pPr>
            <a:r>
              <a:rPr b="1" i="0" lang="fr" sz="1300" u="none" cap="none" strike="noStrike">
                <a:solidFill>
                  <a:srgbClr val="22303C"/>
                </a:solidFill>
                <a:latin typeface="Calibri"/>
                <a:ea typeface="Calibri"/>
                <a:cs typeface="Calibri"/>
                <a:sym typeface="Calibri"/>
              </a:rPr>
              <a:t>Trois enseignements</a:t>
            </a:r>
            <a:endParaRPr b="0" i="0" sz="1300" u="none" cap="none" strike="noStrike">
              <a:solidFill>
                <a:schemeClr val="dk1"/>
              </a:solidFill>
              <a:latin typeface="Calibri"/>
              <a:ea typeface="Calibri"/>
              <a:cs typeface="Calibri"/>
              <a:sym typeface="Calibri"/>
            </a:endParaRPr>
          </a:p>
        </p:txBody>
      </p:sp>
      <p:sp>
        <p:nvSpPr>
          <p:cNvPr id="301" name="Google Shape;301;p25"/>
          <p:cNvSpPr/>
          <p:nvPr/>
        </p:nvSpPr>
        <p:spPr>
          <a:xfrm>
            <a:off x="548640" y="3566160"/>
            <a:ext cx="228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ambria"/>
              <a:buNone/>
            </a:pPr>
            <a:r>
              <a:rPr b="1" i="0" lang="fr" sz="1300" u="none" cap="none" strike="noStrike">
                <a:solidFill>
                  <a:srgbClr val="B5533C"/>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302" name="Google Shape;302;p25"/>
          <p:cNvSpPr/>
          <p:nvPr/>
        </p:nvSpPr>
        <p:spPr>
          <a:xfrm>
            <a:off x="868680" y="3566160"/>
            <a:ext cx="7726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Les erreurs dominantes sont structurelles (variable non déclarée, JSON malformé), pas conceptuelles.</a:t>
            </a:r>
            <a:endParaRPr b="0" i="0" sz="1100" u="none" cap="none" strike="noStrike">
              <a:solidFill>
                <a:schemeClr val="dk1"/>
              </a:solidFill>
              <a:latin typeface="Calibri"/>
              <a:ea typeface="Calibri"/>
              <a:cs typeface="Calibri"/>
              <a:sym typeface="Calibri"/>
            </a:endParaRPr>
          </a:p>
        </p:txBody>
      </p:sp>
      <p:sp>
        <p:nvSpPr>
          <p:cNvPr id="303" name="Google Shape;303;p25"/>
          <p:cNvSpPr/>
          <p:nvPr/>
        </p:nvSpPr>
        <p:spPr>
          <a:xfrm>
            <a:off x="548640" y="3931920"/>
            <a:ext cx="228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ambria"/>
              <a:buNone/>
            </a:pPr>
            <a:r>
              <a:rPr b="1" i="0" lang="fr" sz="1300" u="none" cap="none" strike="noStrike">
                <a:solidFill>
                  <a:srgbClr val="B5533C"/>
                </a:solidFill>
                <a:latin typeface="Cambria"/>
                <a:ea typeface="Cambria"/>
                <a:cs typeface="Cambria"/>
                <a:sym typeface="Cambria"/>
              </a:rPr>
              <a:t>2</a:t>
            </a:r>
            <a:endParaRPr b="0" i="0" sz="1300" u="none" cap="none" strike="noStrike">
              <a:solidFill>
                <a:schemeClr val="dk1"/>
              </a:solidFill>
              <a:latin typeface="Calibri"/>
              <a:ea typeface="Calibri"/>
              <a:cs typeface="Calibri"/>
              <a:sym typeface="Calibri"/>
            </a:endParaRPr>
          </a:p>
        </p:txBody>
      </p:sp>
      <p:sp>
        <p:nvSpPr>
          <p:cNvPr id="304" name="Google Shape;304;p25"/>
          <p:cNvSpPr/>
          <p:nvPr/>
        </p:nvSpPr>
        <p:spPr>
          <a:xfrm>
            <a:off x="868680" y="3931920"/>
            <a:ext cx="7726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La boucle de correction rattrape l'essentiel de ces erreurs : le feedback précis est ce qui la rend efficace.</a:t>
            </a:r>
            <a:endParaRPr b="0" i="0" sz="1100" u="none" cap="none" strike="noStrike">
              <a:solidFill>
                <a:schemeClr val="dk1"/>
              </a:solidFill>
              <a:latin typeface="Calibri"/>
              <a:ea typeface="Calibri"/>
              <a:cs typeface="Calibri"/>
              <a:sym typeface="Calibri"/>
            </a:endParaRPr>
          </a:p>
        </p:txBody>
      </p:sp>
      <p:sp>
        <p:nvSpPr>
          <p:cNvPr id="305" name="Google Shape;305;p25"/>
          <p:cNvSpPr/>
          <p:nvPr/>
        </p:nvSpPr>
        <p:spPr>
          <a:xfrm>
            <a:off x="548640" y="4297680"/>
            <a:ext cx="228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300"/>
              <a:buFont typeface="Cambria"/>
              <a:buNone/>
            </a:pPr>
            <a:r>
              <a:rPr b="1" i="0" lang="fr" sz="1300" u="none" cap="none" strike="noStrike">
                <a:solidFill>
                  <a:srgbClr val="B5533C"/>
                </a:solidFill>
                <a:latin typeface="Cambria"/>
                <a:ea typeface="Cambria"/>
                <a:cs typeface="Cambria"/>
                <a:sym typeface="Cambria"/>
              </a:rPr>
              <a:t>3</a:t>
            </a:r>
            <a:endParaRPr b="0" i="0" sz="1300" u="none" cap="none" strike="noStrike">
              <a:solidFill>
                <a:schemeClr val="dk1"/>
              </a:solidFill>
              <a:latin typeface="Calibri"/>
              <a:ea typeface="Calibri"/>
              <a:cs typeface="Calibri"/>
              <a:sym typeface="Calibri"/>
            </a:endParaRPr>
          </a:p>
        </p:txBody>
      </p:sp>
      <p:sp>
        <p:nvSpPr>
          <p:cNvPr id="306" name="Google Shape;306;p25"/>
          <p:cNvSpPr/>
          <p:nvPr/>
        </p:nvSpPr>
        <p:spPr>
          <a:xfrm>
            <a:off x="868680" y="4297680"/>
            <a:ext cx="7726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1100"/>
              <a:buFont typeface="Calibri"/>
              <a:buNone/>
            </a:pPr>
            <a:r>
              <a:rPr b="0" i="0" lang="fr" sz="1100" u="none" cap="none" strike="noStrike">
                <a:solidFill>
                  <a:srgbClr val="22303C"/>
                </a:solidFill>
                <a:latin typeface="Calibri"/>
                <a:ea typeface="Calibri"/>
                <a:cs typeface="Calibri"/>
                <a:sym typeface="Calibri"/>
              </a:rPr>
              <a:t>L'erreur qui résiste est semantic_mismatch : un modèle valide mais infidèle. Le banc LogicGrid en capte la sous-spécification via le test d'unicité.</a:t>
            </a:r>
            <a:endParaRPr b="0" i="0" sz="1100" u="none" cap="none" strike="noStrike">
              <a:solidFill>
                <a:schemeClr val="dk1"/>
              </a:solidFill>
              <a:latin typeface="Calibri"/>
              <a:ea typeface="Calibri"/>
              <a:cs typeface="Calibri"/>
              <a:sym typeface="Calibri"/>
            </a:endParaRPr>
          </a:p>
        </p:txBody>
      </p:sp>
      <p:sp>
        <p:nvSpPr>
          <p:cNvPr id="307" name="Google Shape;307;p25"/>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3F4"/>
        </a:solidFill>
      </p:bgPr>
    </p:bg>
    <p:spTree>
      <p:nvGrpSpPr>
        <p:cNvPr id="312" name="Shape 312"/>
        <p:cNvGrpSpPr/>
        <p:nvPr/>
      </p:nvGrpSpPr>
      <p:grpSpPr>
        <a:xfrm>
          <a:off x="0" y="0"/>
          <a:ext cx="0" cy="0"/>
          <a:chOff x="0" y="0"/>
          <a:chExt cx="0" cy="0"/>
        </a:xfrm>
      </p:grpSpPr>
      <p:sp>
        <p:nvSpPr>
          <p:cNvPr id="313" name="Google Shape;313;p26"/>
          <p:cNvSpPr/>
          <p:nvPr/>
        </p:nvSpPr>
        <p:spPr>
          <a:xfrm>
            <a:off x="548640" y="146304"/>
            <a:ext cx="8046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HONNÊTETÉ</a:t>
            </a:r>
            <a:endParaRPr b="0" i="0" sz="1100" u="none" cap="none" strike="noStrike">
              <a:solidFill>
                <a:schemeClr val="dk1"/>
              </a:solidFill>
              <a:latin typeface="Calibri"/>
              <a:ea typeface="Calibri"/>
              <a:cs typeface="Calibri"/>
              <a:sym typeface="Calibri"/>
            </a:endParaRPr>
          </a:p>
        </p:txBody>
      </p:sp>
      <p:sp>
        <p:nvSpPr>
          <p:cNvPr id="314" name="Google Shape;314;p26"/>
          <p:cNvSpPr/>
          <p:nvPr/>
        </p:nvSpPr>
        <p:spPr>
          <a:xfrm>
            <a:off x="548640" y="384048"/>
            <a:ext cx="80467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303C"/>
              </a:buClr>
              <a:buSzPts val="3000"/>
              <a:buFont typeface="Cambria"/>
              <a:buNone/>
            </a:pPr>
            <a:r>
              <a:rPr b="1" i="0" lang="fr" sz="3000" u="none" cap="none" strike="noStrike">
                <a:solidFill>
                  <a:srgbClr val="22303C"/>
                </a:solidFill>
                <a:latin typeface="Cambria"/>
                <a:ea typeface="Cambria"/>
                <a:cs typeface="Cambria"/>
                <a:sym typeface="Cambria"/>
              </a:rPr>
              <a:t>Ce que nous ne garantissons pas</a:t>
            </a:r>
            <a:endParaRPr b="0" i="0" sz="3000" u="none" cap="none" strike="noStrike">
              <a:solidFill>
                <a:schemeClr val="dk1"/>
              </a:solidFill>
              <a:latin typeface="Calibri"/>
              <a:ea typeface="Calibri"/>
              <a:cs typeface="Calibri"/>
              <a:sym typeface="Calibri"/>
            </a:endParaRPr>
          </a:p>
        </p:txBody>
      </p:sp>
      <p:sp>
        <p:nvSpPr>
          <p:cNvPr id="315" name="Google Shape;315;p26"/>
          <p:cNvSpPr/>
          <p:nvPr/>
        </p:nvSpPr>
        <p:spPr>
          <a:xfrm>
            <a:off x="548640" y="1234440"/>
            <a:ext cx="80467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26"/>
          <p:cNvSpPr/>
          <p:nvPr/>
        </p:nvSpPr>
        <p:spPr>
          <a:xfrm>
            <a:off x="777240" y="135331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400"/>
              <a:buFont typeface="Calibri"/>
              <a:buNone/>
            </a:pPr>
            <a:r>
              <a:rPr b="1" i="0" lang="fr" sz="1400" u="none" cap="none" strike="noStrike">
                <a:solidFill>
                  <a:srgbClr val="B5533C"/>
                </a:solidFill>
                <a:latin typeface="Calibri"/>
                <a:ea typeface="Calibri"/>
                <a:cs typeface="Calibri"/>
                <a:sym typeface="Calibri"/>
              </a:rPr>
              <a:t>Le maillon faible reste la traduction</a:t>
            </a:r>
            <a:endParaRPr b="0" i="0" sz="1400" u="none" cap="none" strike="noStrike">
              <a:solidFill>
                <a:schemeClr val="dk1"/>
              </a:solidFill>
              <a:latin typeface="Calibri"/>
              <a:ea typeface="Calibri"/>
              <a:cs typeface="Calibri"/>
              <a:sym typeface="Calibri"/>
            </a:endParaRPr>
          </a:p>
        </p:txBody>
      </p:sp>
      <p:sp>
        <p:nvSpPr>
          <p:cNvPr id="317" name="Google Shape;317;p26"/>
          <p:cNvSpPr/>
          <p:nvPr/>
        </p:nvSpPr>
        <p:spPr>
          <a:xfrm>
            <a:off x="777240" y="1645920"/>
            <a:ext cx="7589520" cy="5486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Nous garantissons que le solveur résout correctement le modèle. Nous ne garantissons pas que le modèle soit une traduction fidèle de l'énoncé. Le trou de garantie est là — et il est irréductible sans spécification formelle.</a:t>
            </a:r>
            <a:endParaRPr b="0" i="0" sz="1100" u="none" cap="none" strike="noStrike">
              <a:solidFill>
                <a:schemeClr val="dk1"/>
              </a:solidFill>
              <a:latin typeface="Calibri"/>
              <a:ea typeface="Calibri"/>
              <a:cs typeface="Calibri"/>
              <a:sym typeface="Calibri"/>
            </a:endParaRPr>
          </a:p>
        </p:txBody>
      </p:sp>
      <p:sp>
        <p:nvSpPr>
          <p:cNvPr id="318" name="Google Shape;318;p26"/>
          <p:cNvSpPr/>
          <p:nvPr/>
        </p:nvSpPr>
        <p:spPr>
          <a:xfrm>
            <a:off x="548640" y="2423160"/>
            <a:ext cx="80467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6"/>
          <p:cNvSpPr/>
          <p:nvPr/>
        </p:nvSpPr>
        <p:spPr>
          <a:xfrm>
            <a:off x="777240" y="254203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400"/>
              <a:buFont typeface="Calibri"/>
              <a:buNone/>
            </a:pPr>
            <a:r>
              <a:rPr b="1" i="0" lang="fr" sz="1400" u="none" cap="none" strike="noStrike">
                <a:solidFill>
                  <a:srgbClr val="B5533C"/>
                </a:solidFill>
                <a:latin typeface="Calibri"/>
                <a:ea typeface="Calibri"/>
                <a:cs typeface="Calibri"/>
                <a:sym typeface="Calibri"/>
              </a:rPr>
              <a:t>Le prompt fait beaucoup de travail</a:t>
            </a:r>
            <a:endParaRPr b="0" i="0" sz="1400" u="none" cap="none" strike="noStrike">
              <a:solidFill>
                <a:schemeClr val="dk1"/>
              </a:solidFill>
              <a:latin typeface="Calibri"/>
              <a:ea typeface="Calibri"/>
              <a:cs typeface="Calibri"/>
              <a:sym typeface="Calibri"/>
            </a:endParaRPr>
          </a:p>
        </p:txBody>
      </p:sp>
      <p:sp>
        <p:nvSpPr>
          <p:cNvPr id="320" name="Google Shape;320;p26"/>
          <p:cNvSpPr/>
          <p:nvPr/>
        </p:nvSpPr>
        <p:spPr>
          <a:xfrm>
            <a:off x="777240" y="2834640"/>
            <a:ext cx="7589520" cy="5486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Comparaisons chaînées interdites, biais d'optimisme interdit, identifiants valides… Chaque règle vient d'un échec observé. C'est efficace, mais peu élégant : le prompt engineering compense l'absence de grammaire contrainte.</a:t>
            </a:r>
            <a:endParaRPr b="0" i="0" sz="1100" u="none" cap="none" strike="noStrike">
              <a:solidFill>
                <a:schemeClr val="dk1"/>
              </a:solidFill>
              <a:latin typeface="Calibri"/>
              <a:ea typeface="Calibri"/>
              <a:cs typeface="Calibri"/>
              <a:sym typeface="Calibri"/>
            </a:endParaRPr>
          </a:p>
        </p:txBody>
      </p:sp>
      <p:sp>
        <p:nvSpPr>
          <p:cNvPr id="321" name="Google Shape;321;p26"/>
          <p:cNvSpPr/>
          <p:nvPr/>
        </p:nvSpPr>
        <p:spPr>
          <a:xfrm>
            <a:off x="548640" y="3611880"/>
            <a:ext cx="8046720" cy="1051560"/>
          </a:xfrm>
          <a:prstGeom prst="rect">
            <a:avLst/>
          </a:prstGeom>
          <a:solidFill>
            <a:srgbClr val="FFFFFF"/>
          </a:solidFill>
          <a:ln cap="flat" cmpd="sng" w="12700">
            <a:solidFill>
              <a:srgbClr val="DDE1E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77240" y="373075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400"/>
              <a:buFont typeface="Calibri"/>
              <a:buNone/>
            </a:pPr>
            <a:r>
              <a:rPr b="1" i="0" lang="fr" sz="1400" u="none" cap="none" strike="noStrike">
                <a:solidFill>
                  <a:srgbClr val="B5533C"/>
                </a:solidFill>
                <a:latin typeface="Calibri"/>
                <a:ea typeface="Calibri"/>
                <a:cs typeface="Calibri"/>
                <a:sym typeface="Calibri"/>
              </a:rPr>
              <a:t>Passage à l'échelle non testé</a:t>
            </a:r>
            <a:endParaRPr b="0" i="0" sz="1400" u="none" cap="none" strike="noStrike">
              <a:solidFill>
                <a:schemeClr val="dk1"/>
              </a:solidFill>
              <a:latin typeface="Calibri"/>
              <a:ea typeface="Calibri"/>
              <a:cs typeface="Calibri"/>
              <a:sym typeface="Calibri"/>
            </a:endParaRPr>
          </a:p>
        </p:txBody>
      </p:sp>
      <p:sp>
        <p:nvSpPr>
          <p:cNvPr id="323" name="Google Shape;323;p26"/>
          <p:cNvSpPr/>
          <p:nvPr/>
        </p:nvSpPr>
        <p:spPr>
          <a:xfrm>
            <a:off x="777240" y="4023360"/>
            <a:ext cx="7589520" cy="54864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B7A87"/>
              </a:buClr>
              <a:buSzPts val="1100"/>
              <a:buFont typeface="Calibri"/>
              <a:buNone/>
            </a:pPr>
            <a:r>
              <a:rPr b="0" i="0" lang="fr" sz="1100" u="none" cap="none" strike="noStrike">
                <a:solidFill>
                  <a:srgbClr val="6B7A87"/>
                </a:solidFill>
                <a:latin typeface="Calibri"/>
                <a:ea typeface="Calibri"/>
                <a:cs typeface="Calibri"/>
                <a:sym typeface="Calibri"/>
              </a:rPr>
              <a:t>Le planificateur PDDL fait une recherche avant naïve. Le grounding est exponentiel en nombre d'objets. Nos instances restent petites.</a:t>
            </a:r>
            <a:endParaRPr b="0" i="0" sz="1100" u="none" cap="none" strike="noStrike">
              <a:solidFill>
                <a:schemeClr val="dk1"/>
              </a:solidFill>
              <a:latin typeface="Calibri"/>
              <a:ea typeface="Calibri"/>
              <a:cs typeface="Calibri"/>
              <a:sym typeface="Calibri"/>
            </a:endParaRPr>
          </a:p>
        </p:txBody>
      </p:sp>
      <p:sp>
        <p:nvSpPr>
          <p:cNvPr id="324" name="Google Shape;324;p26"/>
          <p:cNvSpPr/>
          <p:nvPr/>
        </p:nvSpPr>
        <p:spPr>
          <a:xfrm>
            <a:off x="548640" y="4681728"/>
            <a:ext cx="457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A87"/>
              </a:buClr>
              <a:buSzPts val="900"/>
              <a:buFont typeface="Calibri"/>
              <a:buNone/>
            </a:pPr>
            <a:r>
              <a:rPr b="0" i="0" lang="fr" sz="900" u="none" cap="none" strike="noStrike">
                <a:solidFill>
                  <a:srgbClr val="6B7A87"/>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329" name="Shape 329"/>
        <p:cNvGrpSpPr/>
        <p:nvPr/>
      </p:nvGrpSpPr>
      <p:grpSpPr>
        <a:xfrm>
          <a:off x="0" y="0"/>
          <a:ext cx="0" cy="0"/>
          <a:chOff x="0" y="0"/>
          <a:chExt cx="0" cy="0"/>
        </a:xfrm>
      </p:grpSpPr>
      <p:sp>
        <p:nvSpPr>
          <p:cNvPr id="330" name="Google Shape;330;p27"/>
          <p:cNvSpPr/>
          <p:nvPr/>
        </p:nvSpPr>
        <p:spPr>
          <a:xfrm>
            <a:off x="0" y="0"/>
            <a:ext cx="128100" cy="5143500"/>
          </a:xfrm>
          <a:prstGeom prst="rect">
            <a:avLst/>
          </a:prstGeom>
          <a:solidFill>
            <a:srgbClr val="B553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7"/>
          <p:cNvSpPr/>
          <p:nvPr/>
        </p:nvSpPr>
        <p:spPr>
          <a:xfrm>
            <a:off x="822960" y="777240"/>
            <a:ext cx="7680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5533C"/>
              </a:buClr>
              <a:buSzPts val="1100"/>
              <a:buFont typeface="Calibri"/>
              <a:buNone/>
            </a:pPr>
            <a:r>
              <a:rPr b="1" i="0" lang="fr" sz="1100" u="none" cap="none" strike="noStrike">
                <a:solidFill>
                  <a:srgbClr val="B5533C"/>
                </a:solidFill>
                <a:latin typeface="Calibri"/>
                <a:ea typeface="Calibri"/>
                <a:cs typeface="Calibri"/>
                <a:sym typeface="Calibri"/>
              </a:rPr>
              <a:t>EN UN MOT</a:t>
            </a:r>
            <a:endParaRPr b="0" i="0" sz="1100" u="none" cap="none" strike="noStrike">
              <a:solidFill>
                <a:schemeClr val="dk1"/>
              </a:solidFill>
              <a:latin typeface="Calibri"/>
              <a:ea typeface="Calibri"/>
              <a:cs typeface="Calibri"/>
              <a:sym typeface="Calibri"/>
            </a:endParaRPr>
          </a:p>
        </p:txBody>
      </p:sp>
      <p:sp>
        <p:nvSpPr>
          <p:cNvPr id="332" name="Google Shape;332;p27"/>
          <p:cNvSpPr/>
          <p:nvPr/>
        </p:nvSpPr>
        <p:spPr>
          <a:xfrm>
            <a:off x="787085" y="1475670"/>
            <a:ext cx="7498200" cy="1143000"/>
          </a:xfrm>
          <a:prstGeom prst="rect">
            <a:avLst/>
          </a:prstGeom>
          <a:noFill/>
          <a:ln>
            <a:noFill/>
          </a:ln>
        </p:spPr>
        <p:txBody>
          <a:bodyPr anchorCtr="0" anchor="ctr" bIns="0" lIns="0" spcFirstLastPara="1" rIns="0" wrap="square" tIns="0">
            <a:noAutofit/>
          </a:bodyPr>
          <a:lstStyle/>
          <a:p>
            <a:pPr indent="0" lvl="0" marL="0" marR="0" rtl="0" algn="l">
              <a:lnSpc>
                <a:spcPct val="126666"/>
              </a:lnSpc>
              <a:spcBef>
                <a:spcPts val="0"/>
              </a:spcBef>
              <a:spcAft>
                <a:spcPts val="0"/>
              </a:spcAft>
              <a:buClr>
                <a:srgbClr val="FFFFFF"/>
              </a:buClr>
              <a:buSzPts val="3000"/>
              <a:buFont typeface="Cambria"/>
              <a:buNone/>
            </a:pPr>
            <a:r>
              <a:rPr b="1" i="0" lang="fr" sz="3000" u="none" cap="none" strike="noStrike">
                <a:solidFill>
                  <a:srgbClr val="FFFFFF"/>
                </a:solidFill>
                <a:latin typeface="Cambria"/>
                <a:ea typeface="Cambria"/>
                <a:cs typeface="Cambria"/>
                <a:sym typeface="Cambria"/>
              </a:rPr>
              <a:t>Le LLM ne devient pas fiable.</a:t>
            </a:r>
            <a:endParaRPr b="0" i="0" sz="3000" u="none" cap="none" strike="noStrike">
              <a:solidFill>
                <a:schemeClr val="dk1"/>
              </a:solidFill>
              <a:latin typeface="Calibri"/>
              <a:ea typeface="Calibri"/>
              <a:cs typeface="Calibri"/>
              <a:sym typeface="Calibri"/>
            </a:endParaRPr>
          </a:p>
          <a:p>
            <a:pPr indent="0" lvl="0" marL="0" marR="0" rtl="0" algn="l">
              <a:lnSpc>
                <a:spcPct val="126666"/>
              </a:lnSpc>
              <a:spcBef>
                <a:spcPts val="0"/>
              </a:spcBef>
              <a:spcAft>
                <a:spcPts val="0"/>
              </a:spcAft>
              <a:buClr>
                <a:srgbClr val="FFFFFF"/>
              </a:buClr>
              <a:buSzPts val="3000"/>
              <a:buFont typeface="Cambria"/>
              <a:buNone/>
            </a:pPr>
            <a:r>
              <a:rPr b="1" i="0" lang="fr" sz="3000" u="none" cap="none" strike="noStrike">
                <a:solidFill>
                  <a:srgbClr val="FFFFFF"/>
                </a:solidFill>
                <a:latin typeface="Cambria"/>
                <a:ea typeface="Cambria"/>
                <a:cs typeface="Cambria"/>
                <a:sym typeface="Cambria"/>
              </a:rPr>
              <a:t>On cesse de lui faire confiance.</a:t>
            </a:r>
            <a:endParaRPr b="0" i="0" sz="3000" u="none" cap="none" strike="noStrike">
              <a:solidFill>
                <a:schemeClr val="dk1"/>
              </a:solidFill>
              <a:latin typeface="Calibri"/>
              <a:ea typeface="Calibri"/>
              <a:cs typeface="Calibri"/>
              <a:sym typeface="Calibri"/>
            </a:endParaRPr>
          </a:p>
        </p:txBody>
      </p:sp>
      <p:sp>
        <p:nvSpPr>
          <p:cNvPr id="333" name="Google Shape;333;p27"/>
          <p:cNvSpPr/>
          <p:nvPr/>
        </p:nvSpPr>
        <p:spPr>
          <a:xfrm>
            <a:off x="822960" y="2945000"/>
            <a:ext cx="7498200" cy="6858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FB0BC"/>
              </a:buClr>
              <a:buSzPts val="1400"/>
              <a:buFont typeface="Calibri"/>
              <a:buNone/>
            </a:pPr>
            <a:r>
              <a:rPr b="0" i="0" lang="fr" sz="1400" u="none" cap="none" strike="noStrike">
                <a:solidFill>
                  <a:srgbClr val="9FB0BC"/>
                </a:solidFill>
                <a:latin typeface="Calibri"/>
                <a:ea typeface="Calibri"/>
                <a:cs typeface="Calibri"/>
                <a:sym typeface="Calibri"/>
              </a:rPr>
              <a:t>Nous n'avons pas rendu le modèle meilleur en logique. Nous avons construit une architecture où son erreur est détectable, nommable et corrigeable — et où la conclusion revient au solveur.</a:t>
            </a:r>
            <a:endParaRPr b="0" i="0" sz="1400" u="none" cap="none" strike="noStrike">
              <a:solidFill>
                <a:schemeClr val="dk1"/>
              </a:solidFill>
              <a:latin typeface="Calibri"/>
              <a:ea typeface="Calibri"/>
              <a:cs typeface="Calibri"/>
              <a:sym typeface="Calibri"/>
            </a:endParaRPr>
          </a:p>
        </p:txBody>
      </p:sp>
      <p:cxnSp>
        <p:nvCxnSpPr>
          <p:cNvPr id="334" name="Google Shape;334;p27"/>
          <p:cNvCxnSpPr/>
          <p:nvPr/>
        </p:nvCxnSpPr>
        <p:spPr>
          <a:xfrm>
            <a:off x="787085" y="3830725"/>
            <a:ext cx="7498200" cy="0"/>
          </a:xfrm>
          <a:prstGeom prst="straightConnector1">
            <a:avLst/>
          </a:prstGeom>
          <a:noFill/>
          <a:ln cap="flat" cmpd="sng" w="12700">
            <a:solidFill>
              <a:srgbClr val="3E4C58"/>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